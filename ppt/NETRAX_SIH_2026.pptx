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82880"/>
            <a:ext cx="1051560" cy="5303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10012680" y="173736"/>
            <a:ext cx="530352" cy="530352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737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463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438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804672"/>
            <a:ext cx="121916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u="none">
                <a:solidFill>
                  <a:srgbClr val="1F3864"/>
                </a:solidFill>
                <a:latin typeface="Times New Roman"/>
              </a:rPr>
              <a:t>NETRAX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89888"/>
            <a:ext cx="96313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 u="none">
                <a:solidFill>
                  <a:srgbClr val="44546A"/>
                </a:solidFill>
                <a:latin typeface="Calibri"/>
              </a:rPr>
              <a:t>AI-Powered Email Threat Detection, GeoLocation &amp; Forensic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810512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1" u="none">
                <a:solidFill>
                  <a:srgbClr val="6B4C9A"/>
                </a:solidFill>
                <a:latin typeface="Times New Roman"/>
              </a:rPr>
              <a:t>“Others detect the threat. NetraX investigates the threat.”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66543" y="2660903"/>
            <a:ext cx="1520876" cy="0"/>
          </a:xfrm>
          <a:prstGeom prst="line">
            <a:avLst/>
          </a:prstGeom>
          <a:ln w="1524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45787" y="2660903"/>
            <a:ext cx="1520876" cy="0"/>
          </a:xfrm>
          <a:prstGeom prst="line">
            <a:avLst/>
          </a:prstGeom>
          <a:ln w="1524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5031" y="2660903"/>
            <a:ext cx="1520876" cy="0"/>
          </a:xfrm>
          <a:prstGeom prst="line">
            <a:avLst/>
          </a:prstGeom>
          <a:ln w="1524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04275" y="2660903"/>
            <a:ext cx="1520876" cy="0"/>
          </a:xfrm>
          <a:prstGeom prst="line">
            <a:avLst/>
          </a:prstGeom>
          <a:ln w="1524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408176" y="2331720"/>
            <a:ext cx="658368" cy="65836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23317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u="none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3063239"/>
            <a:ext cx="1554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Suspicious
Email</a:t>
            </a:r>
          </a:p>
        </p:txBody>
      </p:sp>
      <p:sp>
        <p:nvSpPr>
          <p:cNvPr id="19" name="Oval 18"/>
          <p:cNvSpPr/>
          <p:nvPr/>
        </p:nvSpPr>
        <p:spPr>
          <a:xfrm>
            <a:off x="3587419" y="2331720"/>
            <a:ext cx="658368" cy="65836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7419" y="23317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u="none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9363" y="3063239"/>
            <a:ext cx="1554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AI
Investigation</a:t>
            </a:r>
          </a:p>
        </p:txBody>
      </p:sp>
      <p:sp>
        <p:nvSpPr>
          <p:cNvPr id="22" name="Oval 21"/>
          <p:cNvSpPr/>
          <p:nvPr/>
        </p:nvSpPr>
        <p:spPr>
          <a:xfrm>
            <a:off x="5766663" y="2331720"/>
            <a:ext cx="658368" cy="6583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6663" y="23317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u="none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8607" y="3063239"/>
            <a:ext cx="1554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Forensic
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7945907" y="2331720"/>
            <a:ext cx="658368" cy="6583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5907" y="23317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u="none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7851" y="3063239"/>
            <a:ext cx="1554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Infrastructure
Intelligence</a:t>
            </a:r>
          </a:p>
        </p:txBody>
      </p:sp>
      <p:sp>
        <p:nvSpPr>
          <p:cNvPr id="28" name="Oval 27"/>
          <p:cNvSpPr/>
          <p:nvPr/>
        </p:nvSpPr>
        <p:spPr>
          <a:xfrm>
            <a:off x="10125151" y="2331720"/>
            <a:ext cx="658368" cy="658368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5151" y="23317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u="none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7095" y="3063239"/>
            <a:ext cx="1554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Risk /
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383280"/>
            <a:ext cx="10911535" cy="141732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29584"/>
            <a:ext cx="33628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PROBLEM STATEMENT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12464"/>
            <a:ext cx="33628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SIH26106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8698" y="3529584"/>
            <a:ext cx="33628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THEME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8698" y="3712464"/>
            <a:ext cx="33628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Blockchain &amp; Cybersecurity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2996" y="3529584"/>
            <a:ext cx="33628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PS 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2996" y="3712464"/>
            <a:ext cx="33628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005072"/>
            <a:ext cx="33628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TEAM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187952"/>
            <a:ext cx="33628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[TEAM ID]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8698" y="4005072"/>
            <a:ext cx="33628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TEAM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8698" y="4187952"/>
            <a:ext cx="33628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Nexora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2996" y="4005072"/>
            <a:ext cx="33628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DEPARTMENT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2996" y="4187952"/>
            <a:ext cx="33628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Cyber Security Cell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4462272"/>
            <a:ext cx="10362895" cy="0"/>
          </a:xfrm>
          <a:prstGeom prst="line">
            <a:avLst/>
          </a:prstGeom>
          <a:ln w="9525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4400" y="4517136"/>
            <a:ext cx="103628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u="none">
                <a:solidFill>
                  <a:srgbClr val="6B7A99"/>
                </a:solidFill>
                <a:latin typeface="Calibri"/>
              </a:rPr>
              <a:t>PROBLEM STATEMENT 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700016"/>
            <a:ext cx="103628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AI-Powered Email Threat Detection, GeoLocation and Forensic Intelligence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956048"/>
            <a:ext cx="109115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44546A"/>
                </a:solidFill>
                <a:latin typeface="Calibri"/>
              </a:rPr>
              <a:t>All India Council for Technical Education (Cyber Security Cell)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19379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 u="none">
                <a:solidFill>
                  <a:srgbClr val="6B7A99"/>
                </a:solidFill>
                <a:latin typeface="Calibri"/>
              </a:rPr>
              <a:t>Decision-support &amp; forensic-intelligence prototype — not a substitute for banks, police or official cybercrime reporting (cybercrime.gov.in).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0" y="6492240"/>
            <a:ext cx="11734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u="none">
                <a:solidFill>
                  <a:srgbClr val="FFFFFF"/>
                </a:solidFill>
                <a:latin typeface="Calibri"/>
              </a:rPr>
              <a:t>NetraX  ·  SIH 2026 Idea Submission  ·  SIH26106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4455" y="6492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82880"/>
            <a:ext cx="1051560" cy="5303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10012680" y="173736"/>
            <a:ext cx="530352" cy="530352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737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463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438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"/>
            <a:ext cx="8366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300" b="1" i="0" u="none">
                <a:solidFill>
                  <a:srgbClr val="0D0D0D"/>
                </a:solidFill>
                <a:latin typeface="Times New Roman"/>
              </a:rPr>
              <a:t>NETRAX — PROPOSED SOLUTION &amp; INNOVATION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22960"/>
            <a:ext cx="11551615" cy="1828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51560" y="1298448"/>
            <a:ext cx="1224229" cy="0"/>
          </a:xfrm>
          <a:prstGeom prst="line">
            <a:avLst/>
          </a:prstGeom>
          <a:ln w="1397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24429" y="1298448"/>
            <a:ext cx="1224229" cy="0"/>
          </a:xfrm>
          <a:prstGeom prst="line">
            <a:avLst/>
          </a:prstGeom>
          <a:ln w="1397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97298" y="1298448"/>
            <a:ext cx="1224229" cy="0"/>
          </a:xfrm>
          <a:prstGeom prst="line">
            <a:avLst/>
          </a:prstGeom>
          <a:ln w="1397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70167" y="1298448"/>
            <a:ext cx="1224229" cy="0"/>
          </a:xfrm>
          <a:prstGeom prst="line">
            <a:avLst/>
          </a:prstGeom>
          <a:ln w="1397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43036" y="1298448"/>
            <a:ext cx="1224230" cy="0"/>
          </a:xfrm>
          <a:prstGeom prst="line">
            <a:avLst/>
          </a:prstGeom>
          <a:ln w="1397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15906" y="1298448"/>
            <a:ext cx="1224229" cy="0"/>
          </a:xfrm>
          <a:prstGeom prst="line">
            <a:avLst/>
          </a:prstGeom>
          <a:ln w="1397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2919" y="102412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19" y="1024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1618488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Suspicious
Email</a:t>
            </a:r>
          </a:p>
        </p:txBody>
      </p:sp>
      <p:sp>
        <p:nvSpPr>
          <p:cNvPr id="20" name="Oval 19"/>
          <p:cNvSpPr/>
          <p:nvPr/>
        </p:nvSpPr>
        <p:spPr>
          <a:xfrm>
            <a:off x="2275789" y="102412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5789" y="1024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3181" y="1618488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Email
Forensics</a:t>
            </a:r>
          </a:p>
        </p:txBody>
      </p:sp>
      <p:sp>
        <p:nvSpPr>
          <p:cNvPr id="23" name="Oval 22"/>
          <p:cNvSpPr/>
          <p:nvPr/>
        </p:nvSpPr>
        <p:spPr>
          <a:xfrm>
            <a:off x="4007510" y="982980"/>
            <a:ext cx="630936" cy="6309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7510" y="982980"/>
            <a:ext cx="630936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6050" y="1659636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Agentic
Investigation</a:t>
            </a:r>
          </a:p>
        </p:txBody>
      </p:sp>
      <p:sp>
        <p:nvSpPr>
          <p:cNvPr id="26" name="Oval 25"/>
          <p:cNvSpPr/>
          <p:nvPr/>
        </p:nvSpPr>
        <p:spPr>
          <a:xfrm>
            <a:off x="5821527" y="102412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1527" y="1024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8919" y="1618488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Threat
Intelligence</a:t>
            </a:r>
          </a:p>
        </p:txBody>
      </p:sp>
      <p:sp>
        <p:nvSpPr>
          <p:cNvPr id="29" name="Oval 28"/>
          <p:cNvSpPr/>
          <p:nvPr/>
        </p:nvSpPr>
        <p:spPr>
          <a:xfrm>
            <a:off x="7594396" y="102412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4396" y="1024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1788" y="1618488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Infrastructure
Analysis</a:t>
            </a:r>
          </a:p>
        </p:txBody>
      </p:sp>
      <p:sp>
        <p:nvSpPr>
          <p:cNvPr id="32" name="Oval 31"/>
          <p:cNvSpPr/>
          <p:nvPr/>
        </p:nvSpPr>
        <p:spPr>
          <a:xfrm>
            <a:off x="9367266" y="102412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67266" y="1024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4658" y="1618488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Evidence
Correlation</a:t>
            </a:r>
          </a:p>
        </p:txBody>
      </p:sp>
      <p:sp>
        <p:nvSpPr>
          <p:cNvPr id="35" name="Oval 34"/>
          <p:cNvSpPr/>
          <p:nvPr/>
        </p:nvSpPr>
        <p:spPr>
          <a:xfrm>
            <a:off x="11140135" y="102412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40135" y="1024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u="none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47527" y="1618488"/>
            <a:ext cx="1133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40" b="1" i="0" u="none">
                <a:solidFill>
                  <a:srgbClr val="1F3864"/>
                </a:solidFill>
                <a:latin typeface="Calibri"/>
              </a:rPr>
              <a:t>Explainable
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201168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2011680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sng">
                <a:solidFill>
                  <a:srgbClr val="1F4E9C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2340864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NetraX is an agentic-AI platform that investigates a suspicious email beyond simple phishing detection — turning it into cited, correlated forensic evidence.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287121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2871216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sng">
                <a:solidFill>
                  <a:srgbClr val="1F4E9C"/>
                </a:solidFill>
                <a:latin typeface="Times New Roman"/>
              </a:rPr>
              <a:t>How It Addresses the 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20040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It analyzes email content, headers, sender identity, URLs/domains, authentication signals, and source-IP infrastructure — then correlates that evidence to support forensic investigation, instead of returning a bare suspicious/not-suspicious label.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85876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3858768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sng">
                <a:solidFill>
                  <a:srgbClr val="1F4E9C"/>
                </a:solidFill>
                <a:latin typeface="Times New Roman"/>
              </a:rPr>
              <a:t>Innovation &amp; Uniqueness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224528"/>
            <a:ext cx="54100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Agentic tool selection — </a:t>
            </a:r>
            <a:r>
              <a:rPr sz="1100">
                <a:solidFill>
                  <a:srgbClr val="1A1A1A"/>
                </a:solidFill>
                <a:latin typeface="Calibri"/>
              </a:rPr>
              <a:t>the agent dynamically chooses which investigation tools a case needs; nothing runs blindly.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Email forensics — </a:t>
            </a:r>
            <a:r>
              <a:rPr sz="1100">
                <a:solidFill>
                  <a:srgbClr val="1A1A1A"/>
                </a:solidFill>
                <a:latin typeface="Calibri"/>
              </a:rPr>
              <a:t>goes beyond message-content classification into headers, SPF/DKIM/DMARC and Received-chain analysis.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Threat intelligence — </a:t>
            </a:r>
            <a:r>
              <a:rPr sz="1100">
                <a:solidFill>
                  <a:srgbClr val="1A1A1A"/>
                </a:solidFill>
                <a:latin typeface="Calibri"/>
              </a:rPr>
              <a:t>adds external evidence via PhishTank and URLhaus correlation.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8727" y="4224528"/>
            <a:ext cx="54100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Infrastructure context — </a:t>
            </a:r>
            <a:r>
              <a:rPr sz="1100">
                <a:solidFill>
                  <a:srgbClr val="1A1A1A"/>
                </a:solidFill>
                <a:latin typeface="Calibri"/>
              </a:rPr>
              <a:t>IP → ASN → approximate geolocation, restricted to public source IPs only.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Evidence Graph — </a:t>
            </a:r>
            <a:r>
              <a:rPr sz="1100">
                <a:solidFill>
                  <a:srgbClr val="1A1A1A"/>
                </a:solidFill>
                <a:latin typeface="Calibri"/>
              </a:rPr>
              <a:t>connects Email → Sender → Domain → URL → IP → ASN → Geo → Threat Intel.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Explainable risk — </a:t>
            </a:r>
            <a:r>
              <a:rPr sz="1100">
                <a:solidFill>
                  <a:srgbClr val="1A1A1A"/>
                </a:solidFill>
                <a:latin typeface="Calibri"/>
              </a:rPr>
              <a:t>a deterministic, per-source-capped score that supports — not replaces — investigator judgment.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6492240"/>
            <a:ext cx="11734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u="none">
                <a:solidFill>
                  <a:srgbClr val="FFFFFF"/>
                </a:solidFill>
                <a:latin typeface="Calibri"/>
              </a:rPr>
              <a:t>NetraX  ·  SIH 2026 Idea Submission  ·  SIH26106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14455" y="6492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82880"/>
            <a:ext cx="1051560" cy="5303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10012680" y="173736"/>
            <a:ext cx="530352" cy="530352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737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463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438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"/>
            <a:ext cx="8366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300" b="1" i="0" u="none">
                <a:solidFill>
                  <a:srgbClr val="0D0D0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22960"/>
            <a:ext cx="11551615" cy="1828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08007" y="1005840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8007" y="1005840"/>
            <a:ext cx="4206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u="none">
                <a:solidFill>
                  <a:srgbClr val="FFFFFF"/>
                </a:solidFill>
                <a:latin typeface="Calibri"/>
              </a:rPr>
              <a:t>SUSPICIOUS EMAIL  →  INGESTION  → 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841248"/>
            <a:ext cx="68541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u="none">
                <a:solidFill>
                  <a:srgbClr val="6B7A99"/>
                </a:solidFill>
                <a:latin typeface="Calibri"/>
              </a:rPr>
              <a:t>01  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11127" y="1261872"/>
            <a:ext cx="0" cy="256032"/>
          </a:xfrm>
          <a:prstGeom prst="line">
            <a:avLst/>
          </a:prstGeom>
          <a:ln w="1270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63655" y="1517904"/>
            <a:ext cx="694944" cy="694944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3655" y="1554480"/>
            <a:ext cx="694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760" b="1" i="0" u="none">
                <a:solidFill>
                  <a:srgbClr val="FFFFFF"/>
                </a:solidFill>
                <a:latin typeface="Calibri"/>
              </a:rPr>
              <a:t>NETRAX
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298448"/>
            <a:ext cx="68541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u="none">
                <a:solidFill>
                  <a:srgbClr val="6B7A99"/>
                </a:solidFill>
                <a:latin typeface="Calibri"/>
              </a:rPr>
              <a:t>02  AGENT — decides which tools this email needs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99812" y="2023343"/>
            <a:ext cx="1201827" cy="613433"/>
          </a:xfrm>
          <a:prstGeom prst="line">
            <a:avLst/>
          </a:prstGeom>
          <a:ln w="15240">
            <a:solidFill>
              <a:srgbClr val="1F4E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781159" y="248716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1159" y="2487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8551" y="306323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88000"/>
              </a:lnSpc>
            </a:pPr>
            <a:r>
              <a:rPr sz="660" b="1" i="0" u="none">
                <a:solidFill>
                  <a:srgbClr val="1F3864"/>
                </a:solidFill>
                <a:latin typeface="Calibri"/>
              </a:rPr>
              <a:t>HEADERS
FORENSICS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125267" y="2113595"/>
            <a:ext cx="442706" cy="451930"/>
          </a:xfrm>
          <a:prstGeom prst="line">
            <a:avLst/>
          </a:prstGeom>
          <a:ln w="15240">
            <a:solidFill>
              <a:srgbClr val="1F4E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658983" y="248716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8983" y="2487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6375" y="306323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88000"/>
              </a:lnSpc>
            </a:pPr>
            <a:r>
              <a:rPr sz="660" b="1" i="0" u="none">
                <a:solidFill>
                  <a:srgbClr val="1F3864"/>
                </a:solidFill>
                <a:latin typeface="Calibri"/>
              </a:rPr>
              <a:t>URL
DOMAIN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11127" y="2212848"/>
            <a:ext cx="0" cy="274320"/>
          </a:xfrm>
          <a:prstGeom prst="line">
            <a:avLst/>
          </a:prstGeom>
          <a:ln w="15240">
            <a:solidFill>
              <a:srgbClr val="1F4E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536807" y="2487168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6807" y="2487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4199" y="306323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88000"/>
              </a:lnSpc>
            </a:pPr>
            <a:r>
              <a:rPr sz="660" b="1" i="0" u="none">
                <a:solidFill>
                  <a:srgbClr val="1F3864"/>
                </a:solidFill>
                <a:latin typeface="Calibri"/>
              </a:rPr>
              <a:t>SENDER
IDENTITY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11127" y="2212848"/>
            <a:ext cx="877824" cy="274320"/>
          </a:xfrm>
          <a:prstGeom prst="line">
            <a:avLst/>
          </a:prstGeom>
          <a:ln w="12700">
            <a:solidFill>
              <a:srgbClr val="C9D3E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414631" y="248716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4631" y="2487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0F6B63"/>
                </a:solidFill>
                <a:latin typeface="Calibri"/>
              </a:rPr>
              <a:t>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22023" y="306323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88000"/>
              </a:lnSpc>
            </a:pPr>
            <a:r>
              <a:rPr sz="660" b="1" i="1" u="none">
                <a:solidFill>
                  <a:srgbClr val="6B7A99"/>
                </a:solidFill>
                <a:latin typeface="Calibri"/>
              </a:rPr>
              <a:t>THREAT INTEL
(if URL found)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2023" y="3319272"/>
            <a:ext cx="11338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1" u="none">
                <a:solidFill>
                  <a:srgbClr val="0F6B63"/>
                </a:solidFill>
                <a:latin typeface="Calibri"/>
              </a:rPr>
              <a:t>PhishTank · URLhaus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11127" y="2212848"/>
            <a:ext cx="1755648" cy="274320"/>
          </a:xfrm>
          <a:prstGeom prst="line">
            <a:avLst/>
          </a:prstGeom>
          <a:ln w="12700">
            <a:solidFill>
              <a:srgbClr val="C9D3E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292455" y="248716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92455" y="2487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u="none">
                <a:solidFill>
                  <a:srgbClr val="6B4C9A"/>
                </a:solidFill>
                <a:latin typeface="Calibri"/>
              </a:rPr>
              <a:t>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9847" y="306323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88000"/>
              </a:lnSpc>
            </a:pPr>
            <a:r>
              <a:rPr sz="660" b="1" i="1" u="none">
                <a:solidFill>
                  <a:srgbClr val="6B7A99"/>
                </a:solidFill>
                <a:latin typeface="Calibri"/>
              </a:rPr>
              <a:t>GEOLOCATION
(if public IP)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9847" y="3319272"/>
            <a:ext cx="11338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1" u="none">
                <a:solidFill>
                  <a:srgbClr val="6B4C9A"/>
                </a:solidFill>
                <a:latin typeface="Calibri"/>
              </a:rPr>
              <a:t>Source IP → ASN → GeoLite2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2322576"/>
            <a:ext cx="68541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u="none">
                <a:solidFill>
                  <a:srgbClr val="6B7A99"/>
                </a:solidFill>
                <a:latin typeface="Calibri"/>
              </a:rPr>
              <a:t>03  TOOLS</a:t>
            </a:r>
          </a:p>
        </p:txBody>
      </p:sp>
      <p:sp>
        <p:nvSpPr>
          <p:cNvPr id="41" name="Oval 40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592324"/>
            <a:ext cx="9144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1" u="none">
                <a:solidFill>
                  <a:srgbClr val="6B7A99"/>
                </a:solidFill>
                <a:latin typeface="Calibri"/>
              </a:rPr>
              <a:t>always run</a:t>
            </a:r>
          </a:p>
        </p:txBody>
      </p:sp>
      <p:sp>
        <p:nvSpPr>
          <p:cNvPr id="43" name="Oval 42"/>
          <p:cNvSpPr/>
          <p:nvPr/>
        </p:nvSpPr>
        <p:spPr>
          <a:xfrm>
            <a:off x="384048" y="2816352"/>
            <a:ext cx="82296" cy="822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F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2788920"/>
            <a:ext cx="9144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1" u="none">
                <a:solidFill>
                  <a:srgbClr val="6B7A99"/>
                </a:solidFill>
                <a:latin typeface="Calibri"/>
              </a:rPr>
              <a:t>conditional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76687" y="3621024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76687" y="3621024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 u="none">
                <a:solidFill>
                  <a:srgbClr val="1F3864"/>
                </a:solidFill>
                <a:latin typeface="Calibri"/>
              </a:rPr>
              <a:t>EVIDENCE / INDICATORS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055479" y="3035808"/>
            <a:ext cx="1755648" cy="585216"/>
          </a:xfrm>
          <a:prstGeom prst="line">
            <a:avLst/>
          </a:prstGeom>
          <a:ln w="1016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33303" y="3035808"/>
            <a:ext cx="877824" cy="585216"/>
          </a:xfrm>
          <a:prstGeom prst="line">
            <a:avLst/>
          </a:prstGeom>
          <a:ln w="1016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811127" y="3035808"/>
            <a:ext cx="0" cy="585216"/>
          </a:xfrm>
          <a:prstGeom prst="line">
            <a:avLst/>
          </a:prstGeom>
          <a:ln w="1016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811127" y="3035808"/>
            <a:ext cx="877824" cy="585216"/>
          </a:xfrm>
          <a:prstGeom prst="line">
            <a:avLst/>
          </a:prstGeom>
          <a:ln w="1016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811127" y="3035808"/>
            <a:ext cx="1755648" cy="585216"/>
          </a:xfrm>
          <a:prstGeom prst="line">
            <a:avLst/>
          </a:prstGeom>
          <a:ln w="1016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11127" y="3840480"/>
            <a:ext cx="0" cy="182880"/>
          </a:xfrm>
          <a:prstGeom prst="line">
            <a:avLst/>
          </a:prstGeom>
          <a:ln w="1270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591671" y="4023360"/>
            <a:ext cx="438912" cy="438912"/>
          </a:xfrm>
          <a:prstGeom prst="ellipse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91671" y="402336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13847" y="4480560"/>
            <a:ext cx="21945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 u="none">
                <a:solidFill>
                  <a:srgbClr val="1F3864"/>
                </a:solidFill>
                <a:latin typeface="Calibri"/>
              </a:rPr>
              <a:t>EVIDENCE FUSION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11127" y="4498848"/>
            <a:ext cx="0" cy="237744"/>
          </a:xfrm>
          <a:prstGeom prst="line">
            <a:avLst/>
          </a:prstGeom>
          <a:ln w="12700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161288" y="4754880"/>
            <a:ext cx="1324919" cy="18288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61288" y="4956048"/>
            <a:ext cx="1324919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 u="none">
                <a:solidFill>
                  <a:srgbClr val="44546A"/>
                </a:solidFill>
                <a:latin typeface="Calibri"/>
              </a:rPr>
              <a:t>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86207" y="4754880"/>
            <a:ext cx="1324919" cy="182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86207" y="4956048"/>
            <a:ext cx="1324919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 u="none">
                <a:solidFill>
                  <a:srgbClr val="44546A"/>
                </a:solidFill>
                <a:latin typeface="Calibri"/>
              </a:rPr>
              <a:t>MEDIUM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1127" y="4754880"/>
            <a:ext cx="1324919" cy="182880"/>
          </a:xfrm>
          <a:prstGeom prst="rect">
            <a:avLst/>
          </a:prstGeom>
          <a:solidFill>
            <a:srgbClr val="C0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11127" y="4956048"/>
            <a:ext cx="1324919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 u="none">
                <a:solidFill>
                  <a:srgbClr val="44546A"/>
                </a:solidFill>
                <a:latin typeface="Calibri"/>
              </a:rPr>
              <a:t>HIGH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36047" y="4754880"/>
            <a:ext cx="1324919" cy="18288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36047" y="4956048"/>
            <a:ext cx="1324919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 u="none">
                <a:solidFill>
                  <a:srgbClr val="44546A"/>
                </a:solidFill>
                <a:latin typeface="Calibri"/>
              </a:rPr>
              <a:t>CRITICAL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4736592"/>
            <a:ext cx="70408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sz="660" b="1" i="0" u="none">
                <a:solidFill>
                  <a:srgbClr val="1F3864"/>
                </a:solidFill>
                <a:latin typeface="Calibri"/>
              </a:rPr>
              <a:t>RISK ENGINE
(deterministic) 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02267" y="519379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75419" y="519379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u="none">
                <a:solidFill>
                  <a:srgbClr val="1A1A1A"/>
                </a:solidFill>
                <a:latin typeface="Calibri"/>
              </a:rPr>
              <a:t>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68027" y="519379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u="none">
                <a:solidFill>
                  <a:srgbClr val="16357A"/>
                </a:solidFill>
                <a:latin typeface="Calibri"/>
              </a:rPr>
              <a:t>EXPLAINABLE FINDINGS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971147" y="519379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44299" y="519379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u="none">
                <a:solidFill>
                  <a:srgbClr val="1A1A1A"/>
                </a:solidFill>
                <a:latin typeface="Calibri"/>
              </a:rPr>
              <a:t>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36907" y="519379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u="none">
                <a:solidFill>
                  <a:srgbClr val="16357A"/>
                </a:solidFill>
                <a:latin typeface="Calibri"/>
              </a:rPr>
              <a:t>CASE REPORT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" y="5193792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u="none">
                <a:solidFill>
                  <a:srgbClr val="6B7A99"/>
                </a:solidFill>
                <a:latin typeface="Calibri"/>
              </a:rPr>
              <a:t>04  DECIDE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4239" y="100584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0271" y="1005840"/>
            <a:ext cx="405737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sng">
                <a:solidFill>
                  <a:srgbClr val="1F4E9C"/>
                </a:solidFill>
                <a:latin typeface="Times New Roman"/>
              </a:rPr>
              <a:t>Datasets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4239" y="1298448"/>
            <a:ext cx="43134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Enron Email Corpus — </a:t>
            </a:r>
            <a:r>
              <a:rPr sz="860">
                <a:solidFill>
                  <a:srgbClr val="1A1A1A"/>
                </a:solidFill>
                <a:latin typeface="Calibri"/>
              </a:rPr>
              <a:t>language/structure reference only (not a malicious/benign label).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SpamAssassin Corpus — </a:t>
            </a:r>
            <a:r>
              <a:rPr sz="860">
                <a:solidFill>
                  <a:srgbClr val="1A1A1A"/>
                </a:solidFill>
                <a:latin typeface="Calibri"/>
              </a:rPr>
              <a:t>spam/ham email corpus; trains the email classifier.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UCI Phishing Websites — </a:t>
            </a:r>
            <a:r>
              <a:rPr sz="860">
                <a:solidFill>
                  <a:srgbClr val="1A1A1A"/>
                </a:solidFill>
                <a:latin typeface="Calibri"/>
              </a:rPr>
              <a:t>trains the URL classifier.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4239" y="223113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0271" y="2231136"/>
            <a:ext cx="405737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sng">
                <a:solidFill>
                  <a:srgbClr val="1F4E9C"/>
                </a:solidFill>
                <a:latin typeface="Times New Roman"/>
              </a:rPr>
              <a:t>Models — kept separate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4239" y="2523744"/>
            <a:ext cx="43134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Email/text — </a:t>
            </a:r>
            <a:r>
              <a:rPr sz="860">
                <a:solidFill>
                  <a:srgbClr val="1A1A1A"/>
                </a:solidFill>
                <a:latin typeface="Calibri"/>
              </a:rPr>
              <a:t>TF-IDF + Linear SVM. F1=0.961, ROC-AUC=0.998 (measured, held-out SpamAssassin set).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URL/structured — </a:t>
            </a:r>
            <a:r>
              <a:rPr sz="860">
                <a:solidFill>
                  <a:srgbClr val="1A1A1A"/>
                </a:solidFill>
                <a:latin typeface="Calibri"/>
              </a:rPr>
              <a:t>HistGradientBoosting. F1=0.954 (measured, UCI Phishing set).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4239" y="3364992"/>
            <a:ext cx="43134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i="1" u="none">
                <a:solidFill>
                  <a:srgbClr val="44546A"/>
                </a:solidFill>
                <a:latin typeface="Calibri"/>
              </a:rPr>
              <a:t>Two independent, specialized models — not one combined model. The agentic layer orchestrates tool selection; the risk engine performs deterministic scoring.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4239" y="386791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0271" y="3867912"/>
            <a:ext cx="405737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sng">
                <a:solidFill>
                  <a:srgbClr val="1F4E9C"/>
                </a:solidFill>
                <a:latin typeface="Times New Roman"/>
              </a:rPr>
              <a:t>Threat Intel &amp; Geo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4239" y="4160520"/>
            <a:ext cx="43134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PhishTank / URLhaus — </a:t>
            </a:r>
            <a:r>
              <a:rPr sz="860">
                <a:solidFill>
                  <a:srgbClr val="1A1A1A"/>
                </a:solidFill>
                <a:latin typeface="Calibri"/>
              </a:rPr>
              <a:t>phishing / malware-URL threat intelligence.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60" b="1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MaxMind GeoLite2 — </a:t>
            </a:r>
            <a:r>
              <a:rPr sz="860">
                <a:solidFill>
                  <a:srgbClr val="1A1A1A"/>
                </a:solidFill>
                <a:latin typeface="Calibri"/>
              </a:rPr>
              <a:t>IP → ASN → geolocation enrichment.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84048" y="5779008"/>
            <a:ext cx="11423599" cy="0"/>
          </a:xfrm>
          <a:prstGeom prst="line">
            <a:avLst/>
          </a:prstGeom>
          <a:ln w="9525">
            <a:solidFill>
              <a:srgbClr val="C9D3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84048" y="5852160"/>
            <a:ext cx="27187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u="none">
                <a:solidFill>
                  <a:srgbClr val="6B7A99"/>
                </a:solidFill>
                <a:latin typeface="Calibri"/>
              </a:rPr>
              <a:t>FRONTEND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048" y="5998464"/>
            <a:ext cx="27187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 i="0" u="none">
                <a:solidFill>
                  <a:srgbClr val="1F3864"/>
                </a:solidFill>
                <a:latin typeface="Calibri"/>
              </a:rPr>
              <a:t>React · TypeScript · Vite · Tailwind CSS · shadcn/ui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39947" y="5852160"/>
            <a:ext cx="27187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u="none">
                <a:solidFill>
                  <a:srgbClr val="6B7A99"/>
                </a:solidFill>
                <a:latin typeface="Calibri"/>
              </a:rPr>
              <a:t>BACKEND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39947" y="5998464"/>
            <a:ext cx="27187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 i="0" u="none">
                <a:solidFill>
                  <a:srgbClr val="1F3864"/>
                </a:solidFill>
                <a:latin typeface="Calibri"/>
              </a:rPr>
              <a:t>Supabase · PostgreSQL · Edge Functions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95847" y="5852160"/>
            <a:ext cx="27187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u="none">
                <a:solidFill>
                  <a:srgbClr val="6B7A99"/>
                </a:solidFill>
                <a:latin typeface="Calibri"/>
              </a:rPr>
              <a:t>ML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5847" y="5998464"/>
            <a:ext cx="27187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 i="0" u="none">
                <a:solidFill>
                  <a:srgbClr val="1F3864"/>
                </a:solidFill>
                <a:latin typeface="Calibri"/>
              </a:rPr>
              <a:t>Python · Pandas · NumPy · scikit-learn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51747" y="5852160"/>
            <a:ext cx="2718739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u="none">
                <a:solidFill>
                  <a:srgbClr val="6B7A99"/>
                </a:solidFill>
                <a:latin typeface="Calibri"/>
              </a:rPr>
              <a:t>AI / TI / GEO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51747" y="5998464"/>
            <a:ext cx="27187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 i="0" u="none">
                <a:solidFill>
                  <a:srgbClr val="1F3864"/>
                </a:solidFill>
                <a:latin typeface="Calibri"/>
              </a:rPr>
              <a:t>Gemini API (explanation, planned) · PhishTank · URLhaus · MaxMind GeoLite2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0" y="6492240"/>
            <a:ext cx="11734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u="none">
                <a:solidFill>
                  <a:srgbClr val="FFFFFF"/>
                </a:solidFill>
                <a:latin typeface="Calibri"/>
              </a:rPr>
              <a:t>NetraX  ·  SIH 2026 Idea Submission  ·  SIH26106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414455" y="6492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82880"/>
            <a:ext cx="1051560" cy="5303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10012680" y="173736"/>
            <a:ext cx="530352" cy="530352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737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463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438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"/>
            <a:ext cx="8366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300" b="1" i="0" u="none">
                <a:solidFill>
                  <a:srgbClr val="0D0D0D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22960"/>
            <a:ext cx="11551615" cy="1828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2412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024128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u="sng">
                <a:solidFill>
                  <a:srgbClr val="1F4E9C"/>
                </a:solidFill>
                <a:latin typeface="Times New Roman"/>
              </a:rPr>
              <a:t>Why Is NetraX Feasible?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Public research email and phishing datasets are available for model development and validation.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Modular Python ML inference integrates with the investigation platform as a separate service.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Threat intelligence and IP/ASN/geolocation are integrated through dedicated, testable adapters.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Supabase/PostgreSQL stores cases, evidence, indicators and investigation events at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sng">
                <a:solidFill>
                  <a:srgbClr val="0D0D0D"/>
                </a:solidFill>
                <a:latin typeface="Times New Roman"/>
              </a:rP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67712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sng">
                <a:solidFill>
                  <a:srgbClr val="0D0D0D"/>
                </a:solidFill>
                <a:latin typeface="Times New Roman"/>
              </a:rPr>
              <a:t>Mitigation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596896"/>
            <a:ext cx="91440" cy="914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42032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A1A1A"/>
                </a:solidFill>
                <a:latin typeface="Calibri"/>
              </a:rPr>
              <a:t>Data quality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2596896"/>
            <a:ext cx="91440" cy="91440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542032"/>
            <a:ext cx="5212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 u="none">
                <a:solidFill>
                  <a:srgbClr val="44546A"/>
                </a:solidFill>
                <a:latin typeface="Calibri"/>
              </a:rPr>
              <a:t>Preprocessing + validation before training (reports/data_quality_report.md)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2903220"/>
            <a:ext cx="91440" cy="914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848356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A1A1A"/>
                </a:solidFill>
                <a:latin typeface="Calibri"/>
              </a:rPr>
              <a:t>False positives / false negatives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2903220"/>
            <a:ext cx="91440" cy="91440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2848356"/>
            <a:ext cx="5212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 u="none">
                <a:solidFill>
                  <a:srgbClr val="44546A"/>
                </a:solidFill>
                <a:latin typeface="Calibri"/>
              </a:rPr>
              <a:t>Model evaluation + decision-threshold tuning on held-out data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209544"/>
            <a:ext cx="91440" cy="914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154679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A1A1A"/>
                </a:solidFill>
                <a:latin typeface="Calibri"/>
              </a:rPr>
              <a:t>Unknown / new attack patterns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3209544"/>
            <a:ext cx="91440" cy="91440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3154679"/>
            <a:ext cx="5212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 u="none">
                <a:solidFill>
                  <a:srgbClr val="44546A"/>
                </a:solidFill>
                <a:latin typeface="Calibri"/>
              </a:rPr>
              <a:t>Multi-signal investigation (headers + URL + ML + threat intel) + feedback loop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3515868"/>
            <a:ext cx="91440" cy="914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461003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A1A1A"/>
                </a:solidFill>
                <a:latin typeface="Calibri"/>
              </a:rPr>
              <a:t>Threat intelligence / API availability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515868"/>
            <a:ext cx="91440" cy="91440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3461003"/>
            <a:ext cx="5212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 u="none">
                <a:solidFill>
                  <a:srgbClr val="44546A"/>
                </a:solidFill>
                <a:latin typeface="Calibri"/>
              </a:rPr>
              <a:t>Adapter architecture + cached/demo data; reports “unavailable,” never fabricated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3822191"/>
            <a:ext cx="91440" cy="914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767328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A1A1A"/>
                </a:solidFill>
                <a:latin typeface="Calibri"/>
              </a:rPr>
              <a:t>Security / malicious input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3822191"/>
            <a:ext cx="91440" cy="91440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767328"/>
            <a:ext cx="5212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 u="none">
                <a:solidFill>
                  <a:srgbClr val="44546A"/>
                </a:solidFill>
                <a:latin typeface="Calibri"/>
              </a:rPr>
              <a:t>Input validation + HTML sanitization + SSRF protection + secret management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128515"/>
            <a:ext cx="91440" cy="9144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073652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A1A1A"/>
                </a:solidFill>
                <a:latin typeface="Calibri"/>
              </a:rPr>
              <a:t>Scalability</a:t>
            </a:r>
          </a:p>
        </p:txBody>
      </p:sp>
      <p:sp>
        <p:nvSpPr>
          <p:cNvPr id="38" name="Oval 37"/>
          <p:cNvSpPr/>
          <p:nvPr/>
        </p:nvSpPr>
        <p:spPr>
          <a:xfrm>
            <a:off x="6263640" y="4128515"/>
            <a:ext cx="91440" cy="91440"/>
          </a:xfrm>
          <a:prstGeom prst="ellips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4073652"/>
            <a:ext cx="5212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 u="none">
                <a:solidFill>
                  <a:srgbClr val="44546A"/>
                </a:solidFill>
                <a:latin typeface="Calibri"/>
              </a:rPr>
              <a:t>Modular services + asynchronous investigation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52628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4526280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sng">
                <a:solidFill>
                  <a:srgbClr val="1F4E9C"/>
                </a:solidFill>
                <a:latin typeface="Times New Roman"/>
              </a:rPr>
              <a:t>Deployment Feasibility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167" y="4855464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EF3FC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167" y="4855464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Email
Input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087471" y="5008626"/>
            <a:ext cx="201168" cy="1508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89807" y="4855464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EF3FC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89807" y="4855464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Analysis
Services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922111" y="5008626"/>
            <a:ext cx="201168" cy="1508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24447" y="4855464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EF3FC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4447" y="4855464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Evidence
Store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8756751" y="5008626"/>
            <a:ext cx="201168" cy="1508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59087" y="4855464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EF3FC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9087" y="4855464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Investigation
UI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6492240"/>
            <a:ext cx="11734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u="none">
                <a:solidFill>
                  <a:srgbClr val="FFFFFF"/>
                </a:solidFill>
                <a:latin typeface="Calibri"/>
              </a:rPr>
              <a:t>NetraX  ·  SIH 2026 Idea Submission  ·  SIH26106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14455" y="6492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82880"/>
            <a:ext cx="1051560" cy="5303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10012680" y="173736"/>
            <a:ext cx="530352" cy="530352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737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463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438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"/>
            <a:ext cx="8366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300" b="1" i="0" u="none">
                <a:solidFill>
                  <a:srgbClr val="0D0D0D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22960"/>
            <a:ext cx="11551615" cy="1828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005840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1F4E9C"/>
                </a:solidFill>
                <a:latin typeface="Times New Roman"/>
              </a:rPr>
              <a:t>Target Audience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16736"/>
            <a:ext cx="1742389" cy="384048"/>
          </a:xfrm>
          <a:prstGeom prst="roundRect">
            <a:avLst>
              <a:gd name="adj" fmla="val 50000"/>
            </a:avLst>
          </a:prstGeom>
          <a:solidFill>
            <a:srgbClr val="E9E1F4"/>
          </a:solidFill>
          <a:ln w="9525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316736"/>
            <a:ext cx="16692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40" b="1" i="0" u="none">
                <a:solidFill>
                  <a:srgbClr val="6B4C9A"/>
                </a:solidFill>
                <a:latin typeface="Calibri"/>
              </a:rPr>
              <a:t>Government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1613" y="1316736"/>
            <a:ext cx="1742389" cy="384048"/>
          </a:xfrm>
          <a:prstGeom prst="roundRect">
            <a:avLst>
              <a:gd name="adj" fmla="val 50000"/>
            </a:avLst>
          </a:prstGeom>
          <a:solidFill>
            <a:srgbClr val="E9E1F4"/>
          </a:solidFill>
          <a:ln w="9525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8189" y="1316736"/>
            <a:ext cx="16692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40" b="1" i="0" u="none">
                <a:solidFill>
                  <a:srgbClr val="6B4C9A"/>
                </a:solidFill>
                <a:latin typeface="Calibri"/>
              </a:rPr>
              <a:t>Banks &amp; Financial 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0306" y="1316736"/>
            <a:ext cx="1742389" cy="384048"/>
          </a:xfrm>
          <a:prstGeom prst="roundRect">
            <a:avLst>
              <a:gd name="adj" fmla="val 50000"/>
            </a:avLst>
          </a:prstGeom>
          <a:solidFill>
            <a:srgbClr val="E9E1F4"/>
          </a:solidFill>
          <a:ln w="9525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6882" y="1316736"/>
            <a:ext cx="16692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40" b="1" i="0" u="none">
                <a:solidFill>
                  <a:srgbClr val="6B4C9A"/>
                </a:solidFill>
                <a:latin typeface="Calibri"/>
              </a:rPr>
              <a:t>Enterprises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8999" y="1316736"/>
            <a:ext cx="1742389" cy="384048"/>
          </a:xfrm>
          <a:prstGeom prst="roundRect">
            <a:avLst>
              <a:gd name="adj" fmla="val 50000"/>
            </a:avLst>
          </a:prstGeom>
          <a:solidFill>
            <a:srgbClr val="E9E1F4"/>
          </a:solidFill>
          <a:ln w="9525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5575" y="1316736"/>
            <a:ext cx="16692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40" b="1" i="0" u="none">
                <a:solidFill>
                  <a:srgbClr val="6B4C9A"/>
                </a:solidFill>
                <a:latin typeface="Calibri"/>
              </a:rPr>
              <a:t>Educational Institutions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7692" y="1316736"/>
            <a:ext cx="1742389" cy="384048"/>
          </a:xfrm>
          <a:prstGeom prst="roundRect">
            <a:avLst>
              <a:gd name="adj" fmla="val 50000"/>
            </a:avLst>
          </a:prstGeom>
          <a:solidFill>
            <a:srgbClr val="E9E1F4"/>
          </a:solidFill>
          <a:ln w="9525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4268" y="1316736"/>
            <a:ext cx="16692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40" b="1" i="0" u="none">
                <a:solidFill>
                  <a:srgbClr val="6B4C9A"/>
                </a:solidFill>
                <a:latin typeface="Calibri"/>
              </a:rPr>
              <a:t>SOC / Security Teams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6386" y="1316736"/>
            <a:ext cx="1742389" cy="384048"/>
          </a:xfrm>
          <a:prstGeom prst="roundRect">
            <a:avLst>
              <a:gd name="adj" fmla="val 50000"/>
            </a:avLst>
          </a:prstGeom>
          <a:solidFill>
            <a:srgbClr val="E9E1F4"/>
          </a:solidFill>
          <a:ln w="9525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2962" y="1316736"/>
            <a:ext cx="16692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40" b="1" i="0" u="none">
                <a:solidFill>
                  <a:srgbClr val="6B4C9A"/>
                </a:solidFill>
                <a:latin typeface="Calibri"/>
              </a:rPr>
              <a:t>Digital Forensic Investigators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027" y="188366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027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NETRAX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74339" y="2007107"/>
            <a:ext cx="18288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66947" y="188366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6947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EMAIL
INVESTIGATION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63259" y="2007107"/>
            <a:ext cx="18288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55867" y="188366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5867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CORRELATED
EVIDENCE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52179" y="2007107"/>
            <a:ext cx="18288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4787" y="188366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4787" y="188366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 u="none">
                <a:solidFill>
                  <a:srgbClr val="FFFFFF"/>
                </a:solidFill>
                <a:latin typeface="Calibri"/>
              </a:rPr>
              <a:t>ACTIONABLE
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523744"/>
            <a:ext cx="34847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sng">
                <a:solidFill>
                  <a:srgbClr val="1F4E9C"/>
                </a:solidFill>
                <a:latin typeface="Calibri"/>
              </a:rPr>
              <a:t>Operational Benefits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798063"/>
            <a:ext cx="34847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4E9C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Faster suspicious-email triage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4E9C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Centralized investigation evidence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4E9C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Reduced manual correlation effort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4E9C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Explainable risk assessment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3458" y="2523744"/>
            <a:ext cx="34847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sng">
                <a:solidFill>
                  <a:srgbClr val="1F3864"/>
                </a:solidFill>
                <a:latin typeface="Calibri"/>
              </a:rPr>
              <a:t>Forensic Benefits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3458" y="2798063"/>
            <a:ext cx="34847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3864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Header and sender analysis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3864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URL / domain relationships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3864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IP / ASN infrastructure context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1F3864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Evidence Graph for investigation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3996" y="2523744"/>
            <a:ext cx="34847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sng">
                <a:solidFill>
                  <a:srgbClr val="0F6B63"/>
                </a:solidFill>
                <a:latin typeface="Calibri"/>
              </a:rPr>
              <a:t>Security Benefits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3996" y="2798063"/>
            <a:ext cx="348477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0F6B63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Earlier identification of phishing indicators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0F6B63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Threat-intelligence correlation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0F6B63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Better incident investigation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60" b="1">
                <a:solidFill>
                  <a:srgbClr val="0F6B63"/>
                </a:solidFill>
                <a:latin typeface="Calibri"/>
              </a:rPr>
              <a:t>•  </a:t>
            </a:r>
            <a:r>
              <a:rPr sz="960">
                <a:solidFill>
                  <a:srgbClr val="1A1A1A"/>
                </a:solidFill>
                <a:latin typeface="Calibri"/>
              </a:rPr>
              <a:t>Structured case 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0050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4005072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1F4E9C"/>
                </a:solidFill>
                <a:latin typeface="Times New Roman"/>
              </a:rPr>
              <a:t>Before vs. After NetraX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33425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B03A2E"/>
                </a:solidFill>
                <a:latin typeface="Calibri"/>
              </a:rPr>
              <a:t>Before: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33425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A1A1A"/>
                </a:solidFill>
                <a:latin typeface="Calibri"/>
              </a:rPr>
              <a:t>Suspicious Email  →  Manual Checks  →  Scattered Evidence  →  Slow Investigation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60857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E8449"/>
                </a:solidFill>
                <a:latin typeface="Calibri"/>
              </a:rPr>
              <a:t>After: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60857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1A1A1A"/>
                </a:solidFill>
                <a:latin typeface="Calibri"/>
              </a:rPr>
              <a:t>Suspicious Email  →  NetraX Agentic Investigation  →  Correlated Evidence  →  Forensic Risk  →  Case Report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6492240"/>
            <a:ext cx="11734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u="none">
                <a:solidFill>
                  <a:srgbClr val="FFFFFF"/>
                </a:solidFill>
                <a:latin typeface="Calibri"/>
              </a:rPr>
              <a:t>NetraX  ·  SIH 2026 Idea Submission  ·  SIH26106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14455" y="6492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82880"/>
            <a:ext cx="1051560" cy="5303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10012680" y="173736"/>
            <a:ext cx="530352" cy="530352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17373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463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438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"/>
            <a:ext cx="8366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300" b="1" i="0" u="none">
                <a:solidFill>
                  <a:srgbClr val="0D0D0D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22960"/>
            <a:ext cx="11551615" cy="1828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51560"/>
            <a:ext cx="3515258" cy="457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179576"/>
            <a:ext cx="322265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none">
                <a:solidFill>
                  <a:srgbClr val="1F3864"/>
                </a:solidFill>
                <a:latin typeface="Calibri"/>
              </a:rPr>
              <a:t>Datasets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" y="1499616"/>
            <a:ext cx="73152" cy="7315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1453895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 u="none">
                <a:solidFill>
                  <a:srgbClr val="1A1A1A"/>
                </a:solidFill>
                <a:latin typeface="Calibri"/>
              </a:rPr>
              <a:t>CMU Enron Email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1627631"/>
            <a:ext cx="30763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44546A"/>
                </a:solidFill>
                <a:latin typeface="Calibri"/>
              </a:rPr>
              <a:t>cs.cmu.edu/~enron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1883663"/>
            <a:ext cx="73152" cy="7315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1837943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 u="none">
                <a:solidFill>
                  <a:srgbClr val="1A1A1A"/>
                </a:solidFill>
                <a:latin typeface="Calibri"/>
              </a:rPr>
              <a:t>Apache SpamAssassin Public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011679"/>
            <a:ext cx="30763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44546A"/>
                </a:solidFill>
                <a:latin typeface="Calibri"/>
              </a:rPr>
              <a:t>spamassassin.apache.org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" y="2267711"/>
            <a:ext cx="73152" cy="7315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221991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 u="none">
                <a:solidFill>
                  <a:srgbClr val="1A1A1A"/>
                </a:solidFill>
                <a:latin typeface="Calibri"/>
              </a:rPr>
              <a:t>UCI Phishing Websites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395727"/>
            <a:ext cx="30763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44546A"/>
                </a:solidFill>
                <a:latin typeface="Calibri"/>
              </a:rPr>
              <a:t>archive.ics.uci.edu/dataset/327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218" y="10515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8218" y="1051560"/>
            <a:ext cx="3515258" cy="45720"/>
          </a:xfrm>
          <a:prstGeom prst="rect">
            <a:avLst/>
          </a:prstGeom>
          <a:solidFill>
            <a:srgbClr val="0F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4522" y="1179576"/>
            <a:ext cx="322265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none">
                <a:solidFill>
                  <a:srgbClr val="1F3864"/>
                </a:solidFill>
                <a:latin typeface="Calibri"/>
              </a:rPr>
              <a:t>Threat Intelligence</a:t>
            </a:r>
          </a:p>
        </p:txBody>
      </p:sp>
      <p:sp>
        <p:nvSpPr>
          <p:cNvPr id="26" name="Oval 25"/>
          <p:cNvSpPr/>
          <p:nvPr/>
        </p:nvSpPr>
        <p:spPr>
          <a:xfrm>
            <a:off x="4484522" y="1499616"/>
            <a:ext cx="73152" cy="73152"/>
          </a:xfrm>
          <a:prstGeom prst="ellipse">
            <a:avLst/>
          </a:prstGeom>
          <a:solidFill>
            <a:srgbClr val="0F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0826" y="1453895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 u="none">
                <a:solidFill>
                  <a:srgbClr val="1A1A1A"/>
                </a:solidFill>
                <a:latin typeface="Calibri"/>
              </a:rPr>
              <a:t>PhishTank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0826" y="1627631"/>
            <a:ext cx="30763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44546A"/>
                </a:solidFill>
                <a:latin typeface="Calibri"/>
              </a:rPr>
              <a:t>phishtank.org</a:t>
            </a:r>
          </a:p>
        </p:txBody>
      </p:sp>
      <p:sp>
        <p:nvSpPr>
          <p:cNvPr id="29" name="Oval 28"/>
          <p:cNvSpPr/>
          <p:nvPr/>
        </p:nvSpPr>
        <p:spPr>
          <a:xfrm>
            <a:off x="4484522" y="1883663"/>
            <a:ext cx="73152" cy="73152"/>
          </a:xfrm>
          <a:prstGeom prst="ellipse">
            <a:avLst/>
          </a:prstGeom>
          <a:solidFill>
            <a:srgbClr val="0F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0826" y="1837943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 u="none">
                <a:solidFill>
                  <a:srgbClr val="1A1A1A"/>
                </a:solidFill>
                <a:latin typeface="Calibri"/>
              </a:rPr>
              <a:t>URLhaus (abuse.ch)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0826" y="2011679"/>
            <a:ext cx="30763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44546A"/>
                </a:solidFill>
                <a:latin typeface="Calibri"/>
              </a:rPr>
              <a:t>urlhaus.abuse.ch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3516" y="10515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3516" y="1051560"/>
            <a:ext cx="3515258" cy="45720"/>
          </a:xfrm>
          <a:prstGeom prst="rect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9820" y="1179576"/>
            <a:ext cx="322265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u="none">
                <a:solidFill>
                  <a:srgbClr val="1F3864"/>
                </a:solidFill>
                <a:latin typeface="Calibri"/>
              </a:rPr>
              <a:t>Geolocation</a:t>
            </a:r>
          </a:p>
        </p:txBody>
      </p:sp>
      <p:sp>
        <p:nvSpPr>
          <p:cNvPr id="35" name="Oval 34"/>
          <p:cNvSpPr/>
          <p:nvPr/>
        </p:nvSpPr>
        <p:spPr>
          <a:xfrm>
            <a:off x="8319820" y="1499616"/>
            <a:ext cx="73152" cy="73152"/>
          </a:xfrm>
          <a:prstGeom prst="ellipse">
            <a:avLst/>
          </a:prstGeom>
          <a:solidFill>
            <a:srgbClr val="6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6124" y="1453895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 u="none">
                <a:solidFill>
                  <a:srgbClr val="1A1A1A"/>
                </a:solidFill>
                <a:latin typeface="Calibri"/>
              </a:rPr>
              <a:t>MaxMind GeoLite2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6124" y="1627631"/>
            <a:ext cx="30763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44546A"/>
                </a:solidFill>
                <a:latin typeface="Calibri"/>
              </a:rPr>
              <a:t>dev.maxmind.com/geoip/geolite2-free-geolocation-data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299008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2990088"/>
            <a:ext cx="109298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u="sng">
                <a:solidFill>
                  <a:srgbClr val="1F4E9C"/>
                </a:solidFill>
                <a:latin typeface="Times New Roman"/>
              </a:rPr>
              <a:t>Research Areas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337560"/>
            <a:ext cx="360669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3337560"/>
            <a:ext cx="346039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" b="1" i="0" u="none">
                <a:solidFill>
                  <a:srgbClr val="16357A"/>
                </a:solidFill>
                <a:latin typeface="Calibri"/>
              </a:rPr>
              <a:t>Email phishing detection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2498" y="3337560"/>
            <a:ext cx="360669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5650" y="3337560"/>
            <a:ext cx="346039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" b="1" i="0" u="none">
                <a:solidFill>
                  <a:srgbClr val="16357A"/>
                </a:solidFill>
                <a:latin typeface="Calibri"/>
              </a:rPr>
              <a:t>Email / header forensics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82076" y="3337560"/>
            <a:ext cx="360669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5228" y="3337560"/>
            <a:ext cx="346039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" b="1" i="0" u="none">
                <a:solidFill>
                  <a:srgbClr val="16357A"/>
                </a:solidFill>
                <a:latin typeface="Calibri"/>
              </a:rPr>
              <a:t>URL phishing detection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758184"/>
            <a:ext cx="360669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3758184"/>
            <a:ext cx="346039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" b="1" i="0" u="none">
                <a:solidFill>
                  <a:srgbClr val="16357A"/>
                </a:solidFill>
                <a:latin typeface="Calibri"/>
              </a:rPr>
              <a:t>Threat intelligence correlation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2498" y="3758184"/>
            <a:ext cx="360669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5650" y="3758184"/>
            <a:ext cx="346039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" b="1" i="0" u="none">
                <a:solidFill>
                  <a:srgbClr val="16357A"/>
                </a:solidFill>
                <a:latin typeface="Calibri"/>
              </a:rPr>
              <a:t>Agentic / tool-based investigation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82076" y="3758184"/>
            <a:ext cx="360669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9525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5228" y="3758184"/>
            <a:ext cx="346039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60" b="1" i="0" u="none">
                <a:solidFill>
                  <a:srgbClr val="16357A"/>
                </a:solidFill>
                <a:latin typeface="Calibri"/>
              </a:rPr>
              <a:t>Explainable cybersecurity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306824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 u="none">
                <a:solidFill>
                  <a:srgbClr val="44546A"/>
                </a:solidFill>
                <a:latin typeface="Calibri"/>
              </a:rPr>
              <a:t>Only verified, currently-used sources are listed above — no fabricated papers, DOIs or citations.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6492240"/>
            <a:ext cx="11734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u="none">
                <a:solidFill>
                  <a:srgbClr val="FFFFFF"/>
                </a:solidFill>
                <a:latin typeface="Calibri"/>
              </a:rPr>
              <a:t>NetraX  ·  SIH 2026 Idea Submission  ·  SIH26106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14455" y="6492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