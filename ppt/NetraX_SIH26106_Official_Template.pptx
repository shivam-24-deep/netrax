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9966960" y="256032"/>
            <a:ext cx="566928" cy="566928"/>
          </a:xfrm>
          <a:prstGeom prst="hexag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66960" y="25603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Calibri"/>
              </a:rPr>
              <a:t>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25328" y="228600"/>
            <a:ext cx="1920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SMART INDIA
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5328" y="548640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1F4E9C"/>
                </a:solidFill>
                <a:latin typeface="Calibri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sng">
                <a:solidFill>
                  <a:srgbClr val="0D0D0D"/>
                </a:solidFill>
                <a:latin typeface="Calibri"/>
              </a:rPr>
              <a:t>Problem Statement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0936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 u="none">
                <a:solidFill>
                  <a:srgbClr val="1A1A1A"/>
                </a:solidFill>
                <a:latin typeface="Calibri"/>
              </a:rPr>
              <a:t>SIH26106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05256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sng">
                <a:solidFill>
                  <a:srgbClr val="0D0D0D"/>
                </a:solidFill>
                <a:latin typeface="Calibri"/>
              </a:rPr>
              <a:t>Problem Statement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24712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 u="none">
                <a:solidFill>
                  <a:srgbClr val="1A1A1A"/>
                </a:solidFill>
                <a:latin typeface="Calibri"/>
              </a:rPr>
              <a:t>AI-Powered Email Threat Detection, GeoLocation and Forensic Intelligence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49047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sng">
                <a:solidFill>
                  <a:srgbClr val="0D0D0D"/>
                </a:solidFill>
                <a:latin typeface="Calibri"/>
              </a:rPr>
              <a:t>Theme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09928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 u="none">
                <a:solidFill>
                  <a:srgbClr val="1A1A1A"/>
                </a:solidFill>
                <a:latin typeface="Calibri"/>
              </a:rPr>
              <a:t>Blockchain &amp; Cybersecurity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84248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sng">
                <a:solidFill>
                  <a:srgbClr val="0D0D0D"/>
                </a:solidFill>
                <a:latin typeface="Calibri"/>
              </a:rPr>
              <a:t>PS 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03704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 u="none">
                <a:solidFill>
                  <a:srgbClr val="1A1A1A"/>
                </a:solidFill>
                <a:latin typeface="Calibri"/>
              </a:rPr>
              <a:t>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78024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sng">
                <a:solidFill>
                  <a:srgbClr val="0D0D0D"/>
                </a:solidFill>
                <a:latin typeface="Calibri"/>
              </a:rPr>
              <a:t>Team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 u="none">
                <a:solidFill>
                  <a:srgbClr val="1A1A1A"/>
                </a:solidFill>
                <a:latin typeface="Calibri"/>
              </a:rPr>
              <a:t>[TEAM ID]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971800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sng">
                <a:solidFill>
                  <a:srgbClr val="0D0D0D"/>
                </a:solidFill>
                <a:latin typeface="Calibri"/>
              </a:rPr>
              <a:t>Team 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191256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 u="none">
                <a:solidFill>
                  <a:srgbClr val="1A1A1A"/>
                </a:solidFill>
                <a:latin typeface="Calibri"/>
              </a:rPr>
              <a:t>Nexora</a:t>
            </a:r>
          </a:p>
        </p:txBody>
      </p:sp>
      <p:sp>
        <p:nvSpPr>
          <p:cNvPr id="19" name="Oval 18"/>
          <p:cNvSpPr/>
          <p:nvPr/>
        </p:nvSpPr>
        <p:spPr>
          <a:xfrm>
            <a:off x="4114800" y="2331720"/>
            <a:ext cx="3931920" cy="3931920"/>
          </a:xfrm>
          <a:prstGeom prst="ellipse">
            <a:avLst/>
          </a:prstGeom>
          <a:solidFill>
            <a:srgbClr val="F4F1FA"/>
          </a:solidFill>
          <a:ln w="19050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324612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 u="none">
                <a:solidFill>
                  <a:srgbClr val="1F3864"/>
                </a:solidFill>
                <a:latin typeface="Times New Roman"/>
              </a:rPr>
              <a:t>NETRAX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84048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 u="none">
                <a:solidFill>
                  <a:srgbClr val="44546A"/>
                </a:solidFill>
                <a:latin typeface="Calibri"/>
              </a:rPr>
              <a:t>AI-Powered Email Threat Detection,
GeoLocation &amp; Forensic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507492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1" u="none">
                <a:solidFill>
                  <a:srgbClr val="6B4C9A"/>
                </a:solidFill>
                <a:latin typeface="Times New Roman"/>
              </a:rPr>
              <a:t>“Detection tells you WHAT.
NetraX investigates WHY.”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 u="none">
                <a:solidFill>
                  <a:srgbClr val="44546A"/>
                </a:solidFill>
                <a:latin typeface="Calibri"/>
              </a:rPr>
              <a:t>All India Council for Technical Education (Cyber Security Cell)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4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0" y="6473952"/>
            <a:ext cx="117344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 u="none">
                <a:solidFill>
                  <a:srgbClr val="FFFFFF"/>
                </a:solidFill>
                <a:latin typeface="Calibri"/>
              </a:rPr>
              <a:t>NetraX  ·  SIH 2026 Idea Submission — SIH26106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8735" y="6473952"/>
            <a:ext cx="640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01168"/>
            <a:ext cx="10515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051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 u="none">
                <a:solidFill>
                  <a:srgbClr val="1A1A1A"/>
                </a:solidFill>
                <a:latin typeface="Calibri"/>
              </a:rPr>
              <a:t>Nexora</a:t>
            </a:r>
          </a:p>
        </p:txBody>
      </p:sp>
      <p:sp>
        <p:nvSpPr>
          <p:cNvPr id="5" name="Hexagon 4"/>
          <p:cNvSpPr/>
          <p:nvPr/>
        </p:nvSpPr>
        <p:spPr>
          <a:xfrm>
            <a:off x="9966960" y="182880"/>
            <a:ext cx="566928" cy="566928"/>
          </a:xfrm>
          <a:prstGeom prst="hexag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0" y="1828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Calibri"/>
              </a:rPr>
              <a:t>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25328" y="155448"/>
            <a:ext cx="1920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SMART INDIA
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25328" y="475488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1F4E9C"/>
                </a:solidFill>
                <a:latin typeface="Calibri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"/>
            <a:ext cx="8229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 u="none">
                <a:solidFill>
                  <a:srgbClr val="0D0D0D"/>
                </a:solidFill>
                <a:latin typeface="Times New Roman"/>
              </a:rPr>
              <a:t>PROPOSED 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896112"/>
            <a:ext cx="11551615" cy="16459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097280"/>
            <a:ext cx="108630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u="sng">
                <a:solidFill>
                  <a:srgbClr val="1F4E9C"/>
                </a:solidFill>
                <a:latin typeface="Times New Roman"/>
              </a:rPr>
              <a:t>Proposed Solution (Idea / Prototype)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536192"/>
            <a:ext cx="111556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1">
                <a:solidFill>
                  <a:srgbClr val="1A1A1A"/>
                </a:solidFill>
                <a:latin typeface="Calibri"/>
              </a:rPr>
              <a:t>Beyond detection: </a:t>
            </a:r>
            <a:r>
              <a:rPr sz="1400">
                <a:solidFill>
                  <a:srgbClr val="1A1A1A"/>
                </a:solidFill>
                <a:latin typeface="Calibri"/>
              </a:rPr>
              <a:t>NetraX investigates a suspicious email end-to-end — header forensics, URL/domain analysis, threat-intelligence correlation, and IP/ASN geolocation — before producing one explainable, deterministic risk score.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1">
                <a:solidFill>
                  <a:srgbClr val="1A1A1A"/>
                </a:solidFill>
                <a:latin typeface="Calibri"/>
              </a:rPr>
              <a:t>Addresses the problem: </a:t>
            </a:r>
            <a:r>
              <a:rPr sz="1400">
                <a:solidFill>
                  <a:srgbClr val="1A1A1A"/>
                </a:solidFill>
                <a:latin typeface="Calibri"/>
              </a:rPr>
              <a:t>traditional filters stop at “suspicious / not suspicious.” SOC teams and investigators are then left to manually piece together evidence. NetraX automates that investigation and hands back cited evidence, not just a verdict.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53512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953512"/>
            <a:ext cx="108630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u="sng">
                <a:solidFill>
                  <a:srgbClr val="1F4E9C"/>
                </a:solidFill>
                <a:latin typeface="Times New Roman"/>
              </a:rPr>
              <a:t>Innovation &amp; Uniqueness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74136"/>
            <a:ext cx="111556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A1A1A"/>
                </a:solidFill>
                <a:latin typeface="Calibri"/>
              </a:rPr>
              <a:t>•  </a:t>
            </a:r>
            <a:r>
              <a:rPr sz="1250" b="1">
                <a:solidFill>
                  <a:srgbClr val="1A1A1A"/>
                </a:solidFill>
                <a:latin typeface="Calibri"/>
              </a:rPr>
              <a:t>Agentic investigation — </a:t>
            </a:r>
            <a:r>
              <a:rPr sz="1250">
                <a:solidFill>
                  <a:srgbClr val="1A1A1A"/>
                </a:solidFill>
                <a:latin typeface="Calibri"/>
              </a:rPr>
              <a:t>the orchestrator dynamically selects only the tools an email's own indicators call for (no URL → URL/threat-intel skipped; no public IP → geolocation skipped), with every skip logged as an auditable event, not a fixed always-run pipeline.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A1A1A"/>
                </a:solidFill>
                <a:latin typeface="Calibri"/>
              </a:rPr>
              <a:t>•  </a:t>
            </a:r>
            <a:r>
              <a:rPr sz="1250" b="1">
                <a:solidFill>
                  <a:srgbClr val="1A1A1A"/>
                </a:solidFill>
                <a:latin typeface="Calibri"/>
              </a:rPr>
              <a:t>Email forensics — </a:t>
            </a:r>
            <a:r>
              <a:rPr sz="1250">
                <a:solidFill>
                  <a:srgbClr val="1A1A1A"/>
                </a:solidFill>
                <a:latin typeface="Calibri"/>
              </a:rPr>
              <a:t>sender identity, SPF/DKIM/DMARC, Received-chain and header anomalies, every finding cited to its literal evidence.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A1A1A"/>
                </a:solidFill>
                <a:latin typeface="Calibri"/>
              </a:rPr>
              <a:t>•  </a:t>
            </a:r>
            <a:r>
              <a:rPr sz="1250" b="1">
                <a:solidFill>
                  <a:srgbClr val="1A1A1A"/>
                </a:solidFill>
                <a:latin typeface="Calibri"/>
              </a:rPr>
              <a:t>Threat intelligence — </a:t>
            </a:r>
            <a:r>
              <a:rPr sz="1250">
                <a:solidFill>
                  <a:srgbClr val="1A1A1A"/>
                </a:solidFill>
                <a:latin typeface="Calibri"/>
              </a:rPr>
              <a:t>extracted URLs/domains correlated against PhishTank and URLhaus where applicable.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A1A1A"/>
                </a:solidFill>
                <a:latin typeface="Calibri"/>
              </a:rPr>
              <a:t>•  </a:t>
            </a:r>
            <a:r>
              <a:rPr sz="1250" b="1">
                <a:solidFill>
                  <a:srgbClr val="1A1A1A"/>
                </a:solidFill>
                <a:latin typeface="Calibri"/>
              </a:rPr>
              <a:t>Infrastructure intelligence — </a:t>
            </a:r>
            <a:r>
              <a:rPr sz="1250">
                <a:solidFill>
                  <a:srgbClr val="1A1A1A"/>
                </a:solidFill>
                <a:latin typeface="Calibri"/>
              </a:rPr>
              <a:t>public source IP → ASN → organization/network → approximate geolocation.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A1A1A"/>
                </a:solidFill>
                <a:latin typeface="Calibri"/>
              </a:rPr>
              <a:t>•  </a:t>
            </a:r>
            <a:r>
              <a:rPr sz="1250" b="1">
                <a:solidFill>
                  <a:srgbClr val="1A1A1A"/>
                </a:solidFill>
                <a:latin typeface="Calibri"/>
              </a:rPr>
              <a:t>Evidence graph — </a:t>
            </a:r>
            <a:r>
              <a:rPr sz="1250">
                <a:solidFill>
                  <a:srgbClr val="1A1A1A"/>
                </a:solidFill>
                <a:latin typeface="Calibri"/>
              </a:rPr>
              <a:t>connects Email → Sender → Domain → URL → IP → ASN → Geo → Threat Intel.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A1A1A"/>
                </a:solidFill>
                <a:latin typeface="Calibri"/>
              </a:rPr>
              <a:t>•  </a:t>
            </a:r>
            <a:r>
              <a:rPr sz="1250" b="1">
                <a:solidFill>
                  <a:srgbClr val="1A1A1A"/>
                </a:solidFill>
                <a:latin typeface="Calibri"/>
              </a:rPr>
              <a:t>Explainable risk — </a:t>
            </a:r>
            <a:r>
              <a:rPr sz="1250">
                <a:solidFill>
                  <a:srgbClr val="1A1A1A"/>
                </a:solidFill>
                <a:latin typeface="Calibri"/>
              </a:rPr>
              <a:t>multiple evidence signals fused into one transparent, deterministic risk score.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4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0" y="6473952"/>
            <a:ext cx="117344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 u="none">
                <a:solidFill>
                  <a:srgbClr val="FFFFFF"/>
                </a:solidFill>
                <a:latin typeface="Calibri"/>
              </a:rPr>
              <a:t>NetraX  ·  SIH 2026 Idea Submission — SIH26106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473952"/>
            <a:ext cx="640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01168"/>
            <a:ext cx="10515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051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 u="none">
                <a:solidFill>
                  <a:srgbClr val="1A1A1A"/>
                </a:solidFill>
                <a:latin typeface="Calibri"/>
              </a:rPr>
              <a:t>Nexora</a:t>
            </a:r>
          </a:p>
        </p:txBody>
      </p:sp>
      <p:sp>
        <p:nvSpPr>
          <p:cNvPr id="5" name="Hexagon 4"/>
          <p:cNvSpPr/>
          <p:nvPr/>
        </p:nvSpPr>
        <p:spPr>
          <a:xfrm>
            <a:off x="9966960" y="182880"/>
            <a:ext cx="566928" cy="566928"/>
          </a:xfrm>
          <a:prstGeom prst="hexag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0" y="1828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Calibri"/>
              </a:rPr>
              <a:t>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25328" y="155448"/>
            <a:ext cx="1920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SMART INDIA
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25328" y="475488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1F4E9C"/>
                </a:solidFill>
                <a:latin typeface="Calibri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"/>
            <a:ext cx="8229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 u="none">
                <a:solidFill>
                  <a:srgbClr val="0D0D0D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896112"/>
            <a:ext cx="11551615" cy="16459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097280"/>
            <a:ext cx="108630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u="sng">
                <a:solidFill>
                  <a:srgbClr val="1F4E9C"/>
                </a:solidFill>
                <a:latin typeface="Times New Roman"/>
              </a:rPr>
              <a:t>Investigation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517904"/>
            <a:ext cx="1282445" cy="566928"/>
          </a:xfrm>
          <a:prstGeom prst="roundRect">
            <a:avLst>
              <a:gd name="adj" fmla="val 12000"/>
            </a:avLst>
          </a:prstGeom>
          <a:solidFill>
            <a:srgbClr val="EAF0FB"/>
          </a:solidFill>
          <a:ln w="12700">
            <a:solidFill>
              <a:srgbClr val="1F4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517904"/>
            <a:ext cx="122758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60" b="1" i="0" u="none">
                <a:solidFill>
                  <a:srgbClr val="1F3864"/>
                </a:solidFill>
                <a:latin typeface="Calibri"/>
              </a:rPr>
              <a:t>Suspicious
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5366" y="1517904"/>
            <a:ext cx="12801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1F4E9C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13382" y="1517904"/>
            <a:ext cx="1282445" cy="566928"/>
          </a:xfrm>
          <a:prstGeom prst="roundRect">
            <a:avLst>
              <a:gd name="adj" fmla="val 12000"/>
            </a:avLst>
          </a:prstGeom>
          <a:solidFill>
            <a:srgbClr val="EAF0FB"/>
          </a:solidFill>
          <a:ln w="12700">
            <a:solidFill>
              <a:srgbClr val="1F4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40814" y="1517904"/>
            <a:ext cx="122758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60" b="1" i="0" u="none">
                <a:solidFill>
                  <a:srgbClr val="1F3864"/>
                </a:solidFill>
                <a:latin typeface="Calibri"/>
              </a:rPr>
              <a:t>Email
Parser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5828" y="1517904"/>
            <a:ext cx="12801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1F4E9C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23844" y="1517904"/>
            <a:ext cx="1282445" cy="566928"/>
          </a:xfrm>
          <a:prstGeom prst="roundRect">
            <a:avLst>
              <a:gd name="adj" fmla="val 12000"/>
            </a:avLst>
          </a:prstGeom>
          <a:solidFill>
            <a:srgbClr val="EAF0FB"/>
          </a:solidFill>
          <a:ln w="12700">
            <a:solidFill>
              <a:srgbClr val="1F4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1276" y="1517904"/>
            <a:ext cx="122758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60" b="1" i="0" u="none">
                <a:solidFill>
                  <a:srgbClr val="1F3864"/>
                </a:solidFill>
                <a:latin typeface="Calibri"/>
              </a:rPr>
              <a:t>NetraX Agent
(orchestrator)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6290" y="1517904"/>
            <a:ext cx="12801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1F4E9C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34306" y="1517904"/>
            <a:ext cx="1282445" cy="566928"/>
          </a:xfrm>
          <a:prstGeom prst="roundRect">
            <a:avLst>
              <a:gd name="adj" fmla="val 12000"/>
            </a:avLst>
          </a:prstGeom>
          <a:solidFill>
            <a:srgbClr val="EAF0FB"/>
          </a:solidFill>
          <a:ln w="12700">
            <a:solidFill>
              <a:srgbClr val="1F4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61738" y="1517904"/>
            <a:ext cx="122758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60" b="1" i="0" u="none">
                <a:solidFill>
                  <a:srgbClr val="1F3864"/>
                </a:solidFill>
                <a:latin typeface="Calibri"/>
              </a:rPr>
              <a:t>Header / URL /
Sender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16752" y="1517904"/>
            <a:ext cx="12801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1F4E9C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1517904"/>
            <a:ext cx="1282445" cy="566928"/>
          </a:xfrm>
          <a:prstGeom prst="roundRect">
            <a:avLst>
              <a:gd name="adj" fmla="val 12000"/>
            </a:avLst>
          </a:prstGeom>
          <a:solidFill>
            <a:srgbClr val="EAF0FB"/>
          </a:solidFill>
          <a:ln w="12700">
            <a:solidFill>
              <a:srgbClr val="1F4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1517904"/>
            <a:ext cx="122758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60" b="1" i="0" u="none">
                <a:solidFill>
                  <a:srgbClr val="1F3864"/>
                </a:solidFill>
                <a:latin typeface="Calibri"/>
              </a:rPr>
              <a:t>Threat Intel +
Geolocation*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7214" y="1517904"/>
            <a:ext cx="12801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1F4E9C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55230" y="1517904"/>
            <a:ext cx="1282445" cy="566928"/>
          </a:xfrm>
          <a:prstGeom prst="roundRect">
            <a:avLst>
              <a:gd name="adj" fmla="val 12000"/>
            </a:avLst>
          </a:prstGeom>
          <a:solidFill>
            <a:srgbClr val="EAF0FB"/>
          </a:solidFill>
          <a:ln w="12700">
            <a:solidFill>
              <a:srgbClr val="1F4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2662" y="1517904"/>
            <a:ext cx="122758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60" b="1" i="0" u="none">
                <a:solidFill>
                  <a:srgbClr val="1F3864"/>
                </a:solidFill>
                <a:latin typeface="Calibri"/>
              </a:rPr>
              <a:t>Evidence
Fusion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7676" y="1517904"/>
            <a:ext cx="12801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1F4E9C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5692" y="1517904"/>
            <a:ext cx="1282445" cy="566928"/>
          </a:xfrm>
          <a:prstGeom prst="roundRect">
            <a:avLst>
              <a:gd name="adj" fmla="val 12000"/>
            </a:avLst>
          </a:prstGeom>
          <a:solidFill>
            <a:srgbClr val="EAF0FB"/>
          </a:solidFill>
          <a:ln w="12700">
            <a:solidFill>
              <a:srgbClr val="1F4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93124" y="1517904"/>
            <a:ext cx="122758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60" b="1" i="0" u="none">
                <a:solidFill>
                  <a:srgbClr val="1F3864"/>
                </a:solidFill>
                <a:latin typeface="Calibri"/>
              </a:rPr>
              <a:t>Risk Engine
(0-100)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8138" y="1517904"/>
            <a:ext cx="12801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u="none">
                <a:solidFill>
                  <a:srgbClr val="1F4E9C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76154" y="1517904"/>
            <a:ext cx="1282445" cy="566928"/>
          </a:xfrm>
          <a:prstGeom prst="roundRect">
            <a:avLst>
              <a:gd name="adj" fmla="val 12000"/>
            </a:avLst>
          </a:prstGeom>
          <a:solidFill>
            <a:srgbClr val="EAF0FB"/>
          </a:solidFill>
          <a:ln w="12700">
            <a:solidFill>
              <a:srgbClr val="1F4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03586" y="1517904"/>
            <a:ext cx="122758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60" b="1" i="0" u="none">
                <a:solidFill>
                  <a:srgbClr val="1F3864"/>
                </a:solidFill>
                <a:latin typeface="Calibri"/>
              </a:rPr>
              <a:t>Case
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2121408"/>
            <a:ext cx="11155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 u="none">
                <a:solidFill>
                  <a:srgbClr val="44546A"/>
                </a:solidFill>
                <a:latin typeface="Calibri"/>
              </a:rPr>
              <a:t>* run only when the email actually contains a URL / a public source IP — dynamic tool selection, not a fixed pipeline.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2478024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" y="2478024"/>
            <a:ext cx="51937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u="sng">
                <a:solidFill>
                  <a:srgbClr val="1F4E9C"/>
                </a:solidFill>
                <a:latin typeface="Times New Roman"/>
              </a:rPr>
              <a:t>Data Grounding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2862072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>
                <a:solidFill>
                  <a:srgbClr val="1A1A1A"/>
                </a:solidFill>
                <a:latin typeface="Calibri"/>
              </a:rPr>
              <a:t>Enron Email Corpus — </a:t>
            </a:r>
            <a:r>
              <a:rPr sz="1100">
                <a:solidFill>
                  <a:srgbClr val="1A1A1A"/>
                </a:solidFill>
                <a:latin typeface="Calibri"/>
              </a:rPr>
              <a:t>structural/language reference (not a labelled class).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>
                <a:solidFill>
                  <a:srgbClr val="1A1A1A"/>
                </a:solidFill>
                <a:latin typeface="Calibri"/>
              </a:rPr>
              <a:t>SpamAssassin Corpus — </a:t>
            </a:r>
            <a:r>
              <a:rPr sz="1100">
                <a:solidFill>
                  <a:srgbClr val="1A1A1A"/>
                </a:solidFill>
                <a:latin typeface="Calibri"/>
              </a:rPr>
              <a:t>trains the email content classifier.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>
                <a:solidFill>
                  <a:srgbClr val="1A1A1A"/>
                </a:solidFill>
                <a:latin typeface="Calibri"/>
              </a:rPr>
              <a:t>UCI Phishing Websites — </a:t>
            </a:r>
            <a:r>
              <a:rPr sz="1100">
                <a:solidFill>
                  <a:srgbClr val="1A1A1A"/>
                </a:solidFill>
                <a:latin typeface="Calibri"/>
              </a:rPr>
              <a:t>trains the URL classifier.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>
                <a:solidFill>
                  <a:srgbClr val="1A1A1A"/>
                </a:solidFill>
                <a:latin typeface="Calibri"/>
              </a:rPr>
              <a:t>PhishTank / URLhaus — </a:t>
            </a:r>
            <a:r>
              <a:rPr sz="1100">
                <a:solidFill>
                  <a:srgbClr val="1A1A1A"/>
                </a:solidFill>
                <a:latin typeface="Calibri"/>
              </a:rPr>
              <a:t>threat-intelligence adapters.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>
                <a:solidFill>
                  <a:srgbClr val="1A1A1A"/>
                </a:solidFill>
                <a:latin typeface="Calibri"/>
              </a:rPr>
              <a:t>MaxMind GeoLite2 — </a:t>
            </a:r>
            <a:r>
              <a:rPr sz="1100">
                <a:solidFill>
                  <a:srgbClr val="1A1A1A"/>
                </a:solidFill>
                <a:latin typeface="Calibri"/>
              </a:rPr>
              <a:t>IP → ASN → geolocation.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478024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6248" y="2478024"/>
            <a:ext cx="51023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u="sng">
                <a:solidFill>
                  <a:srgbClr val="1F4E9C"/>
                </a:solidFill>
                <a:latin typeface="Times New Roman"/>
              </a:rPr>
              <a:t>Trained ML Models (measured)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62072"/>
            <a:ext cx="5394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>
                <a:solidFill>
                  <a:srgbClr val="1A1A1A"/>
                </a:solidFill>
                <a:latin typeface="Calibri"/>
              </a:rPr>
              <a:t>Email classifier — </a:t>
            </a:r>
            <a:r>
              <a:rPr sz="1100">
                <a:solidFill>
                  <a:srgbClr val="1A1A1A"/>
                </a:solidFill>
                <a:latin typeface="Calibri"/>
              </a:rPr>
              <a:t>TF-IDF + Linear SVM, F1 = 0.961, ROC-AUC = 0.998 (held-out SpamAssassin test set).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>
                <a:solidFill>
                  <a:srgbClr val="1A1A1A"/>
                </a:solidFill>
                <a:latin typeface="Calibri"/>
              </a:rPr>
              <a:t>URL classifier — </a:t>
            </a:r>
            <a:r>
              <a:rPr sz="1100">
                <a:solidFill>
                  <a:srgbClr val="1A1A1A"/>
                </a:solidFill>
                <a:latin typeface="Calibri"/>
              </a:rPr>
              <a:t>HistGradientBoosting, F1 = 0.954 (UCI Phishing Websites test set).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822191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 u="none">
                <a:solidFill>
                  <a:srgbClr val="44546A"/>
                </a:solidFill>
                <a:latin typeface="Calibri"/>
              </a:rPr>
              <a:t>Risk score is computed by a deterministic, per-source-capped formula — an LLM never sets or adjusts it; it only orchestrates tool selection.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462272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8" y="4462272"/>
            <a:ext cx="108630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u="sng">
                <a:solidFill>
                  <a:srgbClr val="1F4E9C"/>
                </a:solidFill>
                <a:latin typeface="Times New Roman"/>
              </a:rPr>
              <a:t>Tech Stack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84632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>
                <a:solidFill>
                  <a:srgbClr val="1A1A1A"/>
                </a:solidFill>
                <a:latin typeface="Calibri"/>
              </a:rPr>
              <a:t>Frontend — </a:t>
            </a:r>
            <a:r>
              <a:rPr sz="1100">
                <a:solidFill>
                  <a:srgbClr val="1A1A1A"/>
                </a:solidFill>
                <a:latin typeface="Calibri"/>
              </a:rPr>
              <a:t>React 19, TypeScript, Vite, Tailwind CSS, shadcn/ui-style components, Framer Motion, Recharts.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>
                <a:solidFill>
                  <a:srgbClr val="1A1A1A"/>
                </a:solidFill>
                <a:latin typeface="Calibri"/>
              </a:rPr>
              <a:t>Backend / ML — </a:t>
            </a:r>
            <a:r>
              <a:rPr sz="1100">
                <a:solidFill>
                  <a:srgbClr val="1A1A1A"/>
                </a:solidFill>
                <a:latin typeface="Calibri"/>
              </a:rPr>
              <a:t>Supabase / PostgreSQL, Edge Functions, Python + scikit-learn; Gemini API reserved for an explanation layer (not yet wired into scoring).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4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0" y="6473952"/>
            <a:ext cx="117344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 u="none">
                <a:solidFill>
                  <a:srgbClr val="FFFFFF"/>
                </a:solidFill>
                <a:latin typeface="Calibri"/>
              </a:rPr>
              <a:t>NetraX  ·  SIH 2026 Idea Submission — SIH26106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68735" y="6473952"/>
            <a:ext cx="640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01168"/>
            <a:ext cx="10515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051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 u="none">
                <a:solidFill>
                  <a:srgbClr val="1A1A1A"/>
                </a:solidFill>
                <a:latin typeface="Calibri"/>
              </a:rPr>
              <a:t>Nexora</a:t>
            </a:r>
          </a:p>
        </p:txBody>
      </p:sp>
      <p:sp>
        <p:nvSpPr>
          <p:cNvPr id="5" name="Hexagon 4"/>
          <p:cNvSpPr/>
          <p:nvPr/>
        </p:nvSpPr>
        <p:spPr>
          <a:xfrm>
            <a:off x="9966960" y="182880"/>
            <a:ext cx="566928" cy="566928"/>
          </a:xfrm>
          <a:prstGeom prst="hexag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0" y="1828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Calibri"/>
              </a:rPr>
              <a:t>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25328" y="155448"/>
            <a:ext cx="1920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SMART INDIA
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25328" y="475488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1F4E9C"/>
                </a:solidFill>
                <a:latin typeface="Calibri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"/>
            <a:ext cx="8229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 u="none">
                <a:solidFill>
                  <a:srgbClr val="0D0D0D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896112"/>
            <a:ext cx="11551615" cy="16459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097280"/>
            <a:ext cx="108630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u="sng">
                <a:solidFill>
                  <a:srgbClr val="1F4E9C"/>
                </a:solidFill>
                <a:latin typeface="Times New Roman"/>
              </a:rPr>
              <a:t>Is This Idea Feasible?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499616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 u="none">
                <a:solidFill>
                  <a:srgbClr val="1A1A1A"/>
                </a:solidFill>
                <a:latin typeface="Calibri"/>
              </a:rPr>
              <a:t>Yes — the core pipeline already runs end-to-end today: 203 automated tests passing (169 TypeScript + 34 Python, measured on this build) across parsing, forensics, threat intel, geolocation, the ML models, the agent orchestrator and the risk engine.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85415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u="sng">
                <a:solidFill>
                  <a:srgbClr val="0D0D0D"/>
                </a:solidFill>
                <a:latin typeface="Calibri"/>
              </a:rPr>
              <a:t>Challenges &amp; Risks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185415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u="sng">
                <a:solidFill>
                  <a:srgbClr val="0D0D0D"/>
                </a:solidFill>
                <a:latin typeface="Calibri"/>
              </a:rPr>
              <a:t>Strategies for Overcoming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78023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1A1A1A"/>
                </a:solidFill>
                <a:latin typeface="Calibri"/>
              </a:rPr>
              <a:t>•  Data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478023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44546A"/>
                </a:solidFill>
                <a:latin typeface="Calibri"/>
              </a:rPr>
              <a:t>•  Preprocessing + profiling before training (reports/data_quality_report.md)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807207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1A1A1A"/>
                </a:solidFill>
                <a:latin typeface="Calibri"/>
              </a:rPr>
              <a:t>•  Threat-intel / API availability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807207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44546A"/>
                </a:solidFill>
                <a:latin typeface="Calibri"/>
              </a:rPr>
              <a:t>•  Adapter architecture; reports “unavailable,” never a fabricated match — cached URLhaus snapshot for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136391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1A1A1A"/>
                </a:solidFill>
                <a:latin typeface="Calibri"/>
              </a:rPr>
              <a:t>•  ML false positives / negatives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136391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44546A"/>
                </a:solidFill>
                <a:latin typeface="Calibri"/>
              </a:rPr>
              <a:t>•  Cross-validated model selection, tuned decision threshold, held-out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65575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1A1A1A"/>
                </a:solidFill>
                <a:latin typeface="Calibri"/>
              </a:rPr>
              <a:t>•  Unseen attack patterns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465575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44546A"/>
                </a:solidFill>
                <a:latin typeface="Calibri"/>
              </a:rPr>
              <a:t>•  Multi-signal fusion (headers + URL + ML + threat intel) + a documented feedback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794759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1A1A1A"/>
                </a:solidFill>
                <a:latin typeface="Calibri"/>
              </a:rPr>
              <a:t>•  Computational requirements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794759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44546A"/>
                </a:solidFill>
                <a:latin typeface="Calibri"/>
              </a:rPr>
              <a:t>•  ML inference isolated in its own service; investigation logic is portable/modular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12394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1A1A1A"/>
                </a:solidFill>
                <a:latin typeface="Calibri"/>
              </a:rPr>
              <a:t>•  Platform 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123944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44546A"/>
                </a:solidFill>
                <a:latin typeface="Calibri"/>
              </a:rPr>
              <a:t>•  Auth + row-level security, input validation, SSRF-safe URL fetches, no secrets in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544568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4544568"/>
            <a:ext cx="108630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u="sng">
                <a:solidFill>
                  <a:srgbClr val="1F4E9C"/>
                </a:solidFill>
                <a:latin typeface="Times New Roman"/>
              </a:rPr>
              <a:t>Why It Is Feasible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928616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1A1A1A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Public research datasets already acquired &amp; profiled (Enron, SpamAssassin, UCI Phishing, URLhaus).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1A1A1A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PhishTank / URLhaus / GeoLite2 integrated via dedicated, unit-tested adapters.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1A1A1A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Supabase/PostgreSQL schema (14 tables, RLS) designed to scale case &amp; evidence storage.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1A1A1A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Operates with live intelligence when credentialed, and clearly labelled demo data otherwise — never a fabricated result.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4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0" y="6473952"/>
            <a:ext cx="117344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 u="none">
                <a:solidFill>
                  <a:srgbClr val="FFFFFF"/>
                </a:solidFill>
                <a:latin typeface="Calibri"/>
              </a:rPr>
              <a:t>NetraX  ·  SIH 2026 Idea Submission — SIH26106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68735" y="6473952"/>
            <a:ext cx="640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01168"/>
            <a:ext cx="10515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051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 u="none">
                <a:solidFill>
                  <a:srgbClr val="1A1A1A"/>
                </a:solidFill>
                <a:latin typeface="Calibri"/>
              </a:rPr>
              <a:t>Nexora</a:t>
            </a:r>
          </a:p>
        </p:txBody>
      </p:sp>
      <p:sp>
        <p:nvSpPr>
          <p:cNvPr id="5" name="Hexagon 4"/>
          <p:cNvSpPr/>
          <p:nvPr/>
        </p:nvSpPr>
        <p:spPr>
          <a:xfrm>
            <a:off x="9966960" y="182880"/>
            <a:ext cx="566928" cy="566928"/>
          </a:xfrm>
          <a:prstGeom prst="hexag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0" y="1828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Calibri"/>
              </a:rPr>
              <a:t>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25328" y="155448"/>
            <a:ext cx="1920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SMART INDIA
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25328" y="475488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1F4E9C"/>
                </a:solidFill>
                <a:latin typeface="Calibri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"/>
            <a:ext cx="8229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 u="none">
                <a:solidFill>
                  <a:srgbClr val="0D0D0D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896112"/>
            <a:ext cx="11551615" cy="16459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 u="none">
                <a:solidFill>
                  <a:srgbClr val="1A1A1A"/>
                </a:solidFill>
                <a:latin typeface="Calibri"/>
              </a:rPr>
              <a:t>Target audience: Government, Banks / Financial Institutions, Enterprises, Educational Institutions, SOC / Security Teams, Digital Forensic Investigators.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64207"/>
            <a:ext cx="347471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u="sng">
                <a:solidFill>
                  <a:srgbClr val="1E8449"/>
                </a:solidFill>
                <a:latin typeface="Calibri"/>
              </a:rPr>
              <a:t>SOC / Security Teams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56815"/>
            <a:ext cx="347471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E8449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Faster triage &amp; evidence correlation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E8449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Tool-execution trace, fully auditable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399" y="1664207"/>
            <a:ext cx="347471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u="sng">
                <a:solidFill>
                  <a:srgbClr val="1F4E9C"/>
                </a:solidFill>
                <a:latin typeface="Calibri"/>
              </a:rPr>
              <a:t>Investigators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1956815"/>
            <a:ext cx="347471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F4E9C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Structured, citable forensic evidence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F4E9C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Evidence graph across email/sender/URL/IP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664207"/>
            <a:ext cx="347471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u="sng">
                <a:solidFill>
                  <a:srgbClr val="C0622A"/>
                </a:solidFill>
                <a:latin typeface="Calibri"/>
              </a:rPr>
              <a:t>Organizations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1956815"/>
            <a:ext cx="347471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C0622A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Better understanding of suspicious-email threats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C0622A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Reduced manual screening effort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81528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081528"/>
            <a:ext cx="108630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u="sng">
                <a:solidFill>
                  <a:srgbClr val="1F4E9C"/>
                </a:solidFill>
                <a:latin typeface="Times New Roman"/>
              </a:rPr>
              <a:t>Before vs. After NetraX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4838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C0622A"/>
                </a:solidFill>
                <a:latin typeface="Calibri"/>
              </a:rPr>
              <a:t>Before: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838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u="none">
                <a:solidFill>
                  <a:srgbClr val="1A1A1A"/>
                </a:solidFill>
                <a:latin typeface="Calibri"/>
              </a:rPr>
              <a:t>Suspicious Email  →  Manual Investigation  →  Scattered Evidence  →  Slow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8130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1E8449"/>
                </a:solidFill>
                <a:latin typeface="Calibri"/>
              </a:rPr>
              <a:t>After: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813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u="none">
                <a:solidFill>
                  <a:srgbClr val="1A1A1A"/>
                </a:solidFill>
                <a:latin typeface="Calibri"/>
              </a:rPr>
              <a:t>Suspicious Email  →  NetraX Investigation  →  Correlated Evidence  →  Forensic Risk  →  Actionable Case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31596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44546A"/>
                </a:solidFill>
                <a:latin typeface="Calibri"/>
              </a:rPr>
              <a:t>A decision-support &amp; forensic-intelligence platform — not a replacement for banks, police or official cybercrime systems.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4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0" y="6473952"/>
            <a:ext cx="117344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 u="none">
                <a:solidFill>
                  <a:srgbClr val="FFFFFF"/>
                </a:solidFill>
                <a:latin typeface="Calibri"/>
              </a:rPr>
              <a:t>NetraX  ·  SIH 2026 Idea Submission — SIH26106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8735" y="6473952"/>
            <a:ext cx="640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201168"/>
            <a:ext cx="10515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4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051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 u="none">
                <a:solidFill>
                  <a:srgbClr val="1A1A1A"/>
                </a:solidFill>
                <a:latin typeface="Calibri"/>
              </a:rPr>
              <a:t>Nexora</a:t>
            </a:r>
          </a:p>
        </p:txBody>
      </p:sp>
      <p:sp>
        <p:nvSpPr>
          <p:cNvPr id="5" name="Hexagon 4"/>
          <p:cNvSpPr/>
          <p:nvPr/>
        </p:nvSpPr>
        <p:spPr>
          <a:xfrm>
            <a:off x="9966960" y="182880"/>
            <a:ext cx="566928" cy="566928"/>
          </a:xfrm>
          <a:prstGeom prst="hexag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0" y="1828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Calibri"/>
              </a:rPr>
              <a:t>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25328" y="155448"/>
            <a:ext cx="1920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SMART INDIA
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25328" y="475488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1F4E9C"/>
                </a:solidFill>
                <a:latin typeface="Calibri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"/>
            <a:ext cx="8229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 u="none">
                <a:solidFill>
                  <a:srgbClr val="0D0D0D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896112"/>
            <a:ext cx="11551615" cy="16459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097280"/>
            <a:ext cx="108630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u="sng">
                <a:solidFill>
                  <a:srgbClr val="1F4E9C"/>
                </a:solidFill>
                <a:latin typeface="Times New Roman"/>
              </a:rPr>
              <a:t>Data &amp;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481328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•  </a:t>
            </a:r>
            <a:r>
              <a:rPr sz="1200" b="1">
                <a:solidFill>
                  <a:srgbClr val="1A1A1A"/>
                </a:solidFill>
                <a:latin typeface="Calibri"/>
              </a:rPr>
              <a:t>CMU Enron Email Dataset — </a:t>
            </a:r>
            <a:r>
              <a:rPr sz="1200">
                <a:solidFill>
                  <a:srgbClr val="1A1A1A"/>
                </a:solidFill>
                <a:latin typeface="Calibri"/>
              </a:rPr>
              <a:t>cs.cmu.edu/~enron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•  </a:t>
            </a:r>
            <a:r>
              <a:rPr sz="1200" b="1">
                <a:solidFill>
                  <a:srgbClr val="1A1A1A"/>
                </a:solidFill>
                <a:latin typeface="Calibri"/>
              </a:rPr>
              <a:t>Apache SpamAssassin Public Corpus — </a:t>
            </a:r>
            <a:r>
              <a:rPr sz="1200">
                <a:solidFill>
                  <a:srgbClr val="1A1A1A"/>
                </a:solidFill>
                <a:latin typeface="Calibri"/>
              </a:rPr>
              <a:t>spamassassin.apache.org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•  </a:t>
            </a:r>
            <a:r>
              <a:rPr sz="1200" b="1">
                <a:solidFill>
                  <a:srgbClr val="1A1A1A"/>
                </a:solidFill>
                <a:latin typeface="Calibri"/>
              </a:rPr>
              <a:t>UCI Phishing Websites Dataset — </a:t>
            </a:r>
            <a:r>
              <a:rPr sz="1200">
                <a:solidFill>
                  <a:srgbClr val="1A1A1A"/>
                </a:solidFill>
                <a:latin typeface="Calibri"/>
              </a:rPr>
              <a:t>archive.ics.uci.edu/dataset/327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•  </a:t>
            </a:r>
            <a:r>
              <a:rPr sz="1200" b="1">
                <a:solidFill>
                  <a:srgbClr val="1A1A1A"/>
                </a:solidFill>
                <a:latin typeface="Calibri"/>
              </a:rPr>
              <a:t>PhishTank — </a:t>
            </a:r>
            <a:r>
              <a:rPr sz="1200">
                <a:solidFill>
                  <a:srgbClr val="1A1A1A"/>
                </a:solidFill>
                <a:latin typeface="Calibri"/>
              </a:rPr>
              <a:t>phishtank.org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•  </a:t>
            </a:r>
            <a:r>
              <a:rPr sz="1200" b="1">
                <a:solidFill>
                  <a:srgbClr val="1A1A1A"/>
                </a:solidFill>
                <a:latin typeface="Calibri"/>
              </a:rPr>
              <a:t>URLhaus (abuse.ch) — </a:t>
            </a:r>
            <a:r>
              <a:rPr sz="1200">
                <a:solidFill>
                  <a:srgbClr val="1A1A1A"/>
                </a:solidFill>
                <a:latin typeface="Calibri"/>
              </a:rPr>
              <a:t>urlhaus.abuse.ch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•  </a:t>
            </a:r>
            <a:r>
              <a:rPr sz="1200" b="1">
                <a:solidFill>
                  <a:srgbClr val="1A1A1A"/>
                </a:solidFill>
                <a:latin typeface="Calibri"/>
              </a:rPr>
              <a:t>MaxMind GeoLite2 — </a:t>
            </a:r>
            <a:r>
              <a:rPr sz="1200">
                <a:solidFill>
                  <a:srgbClr val="1A1A1A"/>
                </a:solidFill>
                <a:latin typeface="Calibri"/>
              </a:rPr>
              <a:t>dev.maxmind.com/geoip/geolite2-free-geolocation-data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98648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898648"/>
            <a:ext cx="51937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u="sng">
                <a:solidFill>
                  <a:srgbClr val="1F4E9C"/>
                </a:solidFill>
                <a:latin typeface="Times New Roman"/>
              </a:rPr>
              <a:t>Technology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82696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1A1A1A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React + TypeScript + Vite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1A1A1A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Tailwind CSS + shadcn/ui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1A1A1A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Supabase / PostgreSQL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1A1A1A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Python + scikit-learn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1A1A1A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Gemini API (explanation layer — planned)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898648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2898648"/>
            <a:ext cx="51023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u="sng">
                <a:solidFill>
                  <a:srgbClr val="1F4E9C"/>
                </a:solidFill>
                <a:latin typeface="Times New Roman"/>
              </a:rPr>
              <a:t>Security &amp; Standards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282696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1A1A1A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OWASP Top 10 / SSRF Prevention — owasp.org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1A1A1A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NIST Cybersecurity Framework — nist.gov/cyberframework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1A1A1A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CERT-In Advisories — cert-in.org.in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1A1A1A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Govt. of India Cybercrime Portal — cybercrime.gov.in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82896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u="none">
                <a:solidFill>
                  <a:srgbClr val="1F4E9C"/>
                </a:solidFill>
                <a:latin typeface="Calibri"/>
              </a:rPr>
              <a:t>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882896"/>
            <a:ext cx="108630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u="sng">
                <a:solidFill>
                  <a:srgbClr val="1F4E9C"/>
                </a:solidFill>
                <a:latin typeface="Times New Roman"/>
              </a:rPr>
              <a:t>Research Basis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266944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 u="none">
                <a:solidFill>
                  <a:srgbClr val="44546A"/>
                </a:solidFill>
                <a:latin typeface="Calibri"/>
              </a:rPr>
              <a:t>Email/Phishing Detection · URL Phishing Detection · Email Header Forensics (SPF/DKIM/DMARC) · Threat-Intelligence Correlation · Agentic / Tool-Use AI Systems · IP Geolocation Limitations · Explainable Security Systems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907024"/>
            <a:ext cx="11155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 u="none">
                <a:solidFill>
                  <a:srgbClr val="44546A"/>
                </a:solidFill>
                <a:latin typeface="Calibri"/>
              </a:rPr>
              <a:t>Topic areas grounding this build — specific citations to be finalized for the final report.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4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0" y="6473952"/>
            <a:ext cx="117344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 u="none">
                <a:solidFill>
                  <a:srgbClr val="FFFFFF"/>
                </a:solidFill>
                <a:latin typeface="Calibri"/>
              </a:rPr>
              <a:t>NetraX  ·  SIH 2026 Idea Submission — SIH26106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8735" y="6473952"/>
            <a:ext cx="640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