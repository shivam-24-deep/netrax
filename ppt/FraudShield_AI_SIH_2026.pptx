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-1280160"/>
            <a:ext cx="5943600" cy="5943600"/>
          </a:xfrm>
          <a:prstGeom prst="ellipse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645920" y="5120640"/>
            <a:ext cx="4754880" cy="4754880"/>
          </a:xfrm>
          <a:prstGeom prst="ellipse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45318" y="240030"/>
            <a:ext cx="32004" cy="3200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3062" y="240030"/>
            <a:ext cx="32004" cy="3200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20806" y="240030"/>
            <a:ext cx="32004" cy="3200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45318" y="477774"/>
            <a:ext cx="32004" cy="3200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3062" y="477774"/>
            <a:ext cx="32004" cy="3200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20806" y="477774"/>
            <a:ext cx="32004" cy="3200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45318" y="715518"/>
            <a:ext cx="32004" cy="3200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3062" y="715518"/>
            <a:ext cx="32004" cy="3200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20806" y="715518"/>
            <a:ext cx="32004" cy="3200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561320" y="256032"/>
            <a:ext cx="237744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799064" y="256032"/>
            <a:ext cx="237744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561320" y="493776"/>
            <a:ext cx="237744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799064" y="493776"/>
            <a:ext cx="237744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61320" y="731520"/>
            <a:ext cx="237744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99064" y="731520"/>
            <a:ext cx="237744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89204" y="6341364"/>
            <a:ext cx="27432" cy="27432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" y="6341364"/>
            <a:ext cx="27432" cy="27432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8116" y="6341364"/>
            <a:ext cx="27432" cy="27432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9204" y="6560820"/>
            <a:ext cx="27432" cy="27432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8660" y="6560820"/>
            <a:ext cx="27432" cy="27432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8116" y="6560820"/>
            <a:ext cx="27432" cy="27432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02920" y="6355080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2376" y="6355080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" y="6574536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22376" y="6574536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0" y="292608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 spc="220">
                <a:solidFill>
                  <a:srgbClr val="CCFBF1"/>
                </a:solidFill>
                <a:latin typeface="Segoe UI"/>
              </a:rPr>
              <a:t>SMART INDIA HACKATHON 2026</a:t>
            </a:r>
          </a:p>
        </p:txBody>
      </p:sp>
      <p:sp>
        <p:nvSpPr>
          <p:cNvPr id="32" name="Freeform 31"/>
          <p:cNvSpPr/>
          <p:nvPr/>
        </p:nvSpPr>
        <p:spPr>
          <a:xfrm>
            <a:off x="5661507" y="658368"/>
            <a:ext cx="868680" cy="868680"/>
          </a:xfrm>
          <a:custGeom>
            <a:avLst/>
            <a:gdLst/>
            <a:ahLst/>
            <a:cxnLst/>
            <a:rect l="l" t="t" r="r" b="b"/>
            <a:pathLst>
              <a:path w="868680" h="868680">
                <a:moveTo>
                  <a:pt x="0" y="86868"/>
                </a:moveTo>
                <a:lnTo>
                  <a:pt x="434340" y="0"/>
                </a:lnTo>
                <a:lnTo>
                  <a:pt x="868680" y="86868"/>
                </a:lnTo>
                <a:lnTo>
                  <a:pt x="868680" y="434339"/>
                </a:lnTo>
                <a:lnTo>
                  <a:pt x="434340" y="868680"/>
                </a:lnTo>
                <a:lnTo>
                  <a:pt x="0" y="434339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1507" y="797356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1700784"/>
            <a:ext cx="121916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 spc="120">
                <a:solidFill>
                  <a:srgbClr val="FFFFFF"/>
                </a:solidFill>
                <a:latin typeface="Segoe UI"/>
              </a:rPr>
              <a:t>FRAUDSHIELD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2395728"/>
            <a:ext cx="12191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1">
                <a:solidFill>
                  <a:srgbClr val="CCFBF1"/>
                </a:solidFill>
                <a:latin typeface="Segoe UI"/>
              </a:rPr>
              <a:t>“Detect. Investigate. Explain. Act.”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2834640"/>
            <a:ext cx="90827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DBEAFE"/>
                </a:solidFill>
                <a:latin typeface="Segoe UI"/>
              </a:rPr>
              <a:t>Agentic AI for Cyber-Fraud Detection, Investigation &amp; Explainable Risk Assessment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346704"/>
            <a:ext cx="10728655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14300" dist="2794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926183" y="3657600"/>
            <a:ext cx="512064" cy="512064"/>
          </a:xfrm>
          <a:prstGeom prst="ellipse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95831" y="3657600"/>
            <a:ext cx="15727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58671" y="4279392"/>
            <a:ext cx="1847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1B33"/>
                </a:solidFill>
                <a:latin typeface="Segoe UI"/>
              </a:rPr>
              <a:t>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8671" y="4553712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30" b="0" i="0">
                <a:solidFill>
                  <a:srgbClr val="55647E"/>
                </a:solidFill>
                <a:latin typeface="Segoe UI"/>
              </a:rPr>
              <a:t>Reports a concern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2986887" y="3806647"/>
            <a:ext cx="274320" cy="213969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882999" y="3657600"/>
            <a:ext cx="512064" cy="51206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52647" y="3657600"/>
            <a:ext cx="15727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15487" y="4279392"/>
            <a:ext cx="1847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1B33"/>
                </a:solidFill>
                <a:latin typeface="Segoe UI"/>
              </a:rPr>
              <a:t>SUSPICIOUS 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5487" y="4553712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30" b="0" i="0">
                <a:solidFill>
                  <a:srgbClr val="55647E"/>
                </a:solidFill>
                <a:latin typeface="Segoe UI"/>
              </a:rPr>
              <a:t>SMS · Email · URL · Transaction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943703" y="3806647"/>
            <a:ext cx="274320" cy="213969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839815" y="3657600"/>
            <a:ext cx="512064" cy="51206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9463" y="3657600"/>
            <a:ext cx="15727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72303" y="4279392"/>
            <a:ext cx="1847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1B33"/>
                </a:solidFill>
                <a:latin typeface="Segoe UI"/>
              </a:rPr>
              <a:t>AI FRAUD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72303" y="4553712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30" b="0" i="0">
                <a:solidFill>
                  <a:srgbClr val="55647E"/>
                </a:solidFill>
                <a:latin typeface="Segoe UI"/>
              </a:rPr>
              <a:t>Investigates the case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6900519" y="3806647"/>
            <a:ext cx="274320" cy="213969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796631" y="3657600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6279" y="3657600"/>
            <a:ext cx="15727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29119" y="4279392"/>
            <a:ext cx="1847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1B33"/>
                </a:solidFill>
                <a:latin typeface="Segoe UI"/>
              </a:rPr>
              <a:t>RISK DETECTION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29119" y="4553712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30" b="0" i="0">
                <a:solidFill>
                  <a:srgbClr val="55647E"/>
                </a:solidFill>
                <a:latin typeface="Segoe UI"/>
              </a:rPr>
              <a:t>Explainable risk score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8857335" y="3806647"/>
            <a:ext cx="274320" cy="213969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753447" y="3657600"/>
            <a:ext cx="512064" cy="51206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23095" y="3657600"/>
            <a:ext cx="15727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85935" y="4279392"/>
            <a:ext cx="1847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1B33"/>
                </a:solidFill>
                <a:latin typeface="Segoe UI"/>
              </a:rPr>
              <a:t>PROTECTION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85935" y="4553712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30" b="0" i="0">
                <a:solidFill>
                  <a:srgbClr val="55647E"/>
                </a:solidFill>
                <a:latin typeface="Segoe UI"/>
              </a:rPr>
              <a:t>Safe action recommended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" y="5468112"/>
            <a:ext cx="10728655" cy="1005840"/>
          </a:xfrm>
          <a:prstGeom prst="roundRect">
            <a:avLst>
              <a:gd name="adj" fmla="val 9000"/>
            </a:avLst>
          </a:prstGeom>
          <a:solidFill>
            <a:srgbClr val="1C3A63"/>
          </a:solidFill>
          <a:ln w="9525">
            <a:solidFill>
              <a:srgbClr val="2C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5840" y="5605272"/>
            <a:ext cx="33018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80">
                <a:solidFill>
                  <a:srgbClr val="CCFBF1"/>
                </a:solidFill>
                <a:latin typeface="Segoe UI"/>
              </a:rPr>
              <a:t>PROBLEM STATEMENT 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" y="5779008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[PROBLEM STATEMENT ID]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99178" y="5605272"/>
            <a:ext cx="33018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80">
                <a:solidFill>
                  <a:srgbClr val="CCFBF1"/>
                </a:solidFill>
                <a:latin typeface="Segoe UI"/>
              </a:rPr>
              <a:t>PROBLEM STATEMENT TITLE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99178" y="5779008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[PROBLEM STATEMENT TITLE]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92516" y="5605272"/>
            <a:ext cx="33018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80">
                <a:solidFill>
                  <a:srgbClr val="CCFBF1"/>
                </a:solidFill>
                <a:latin typeface="Segoe UI"/>
              </a:rPr>
              <a:t>THEME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2516" y="5779008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[THEME]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" y="6007608"/>
            <a:ext cx="33018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80">
                <a:solidFill>
                  <a:srgbClr val="CCFBF1"/>
                </a:solidFill>
                <a:latin typeface="Segoe UI"/>
              </a:rPr>
              <a:t>PS CATEGORY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" y="6181344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Software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9178" y="6007608"/>
            <a:ext cx="33018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80">
                <a:solidFill>
                  <a:srgbClr val="CCFBF1"/>
                </a:solidFill>
                <a:latin typeface="Segoe UI"/>
              </a:rPr>
              <a:t>TEAM ID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99178" y="6181344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[TEAM ID]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92516" y="6007608"/>
            <a:ext cx="33018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80">
                <a:solidFill>
                  <a:srgbClr val="CCFBF1"/>
                </a:solidFill>
                <a:latin typeface="Segoe UI"/>
              </a:rPr>
              <a:t>TEAM NAME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92516" y="6181344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[TEAM NAME]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6620256"/>
            <a:ext cx="107286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8592A8"/>
                </a:solidFill>
                <a:latin typeface="Segoe UI"/>
              </a:rPr>
              <a:t>Agentic AI Fraud Investigation Platform  ·  Prototype (SIH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11480" y="278891"/>
            <a:ext cx="310896" cy="310897"/>
          </a:xfrm>
          <a:custGeom>
            <a:avLst/>
            <a:gdLst/>
            <a:ahLst/>
            <a:cxnLst/>
            <a:rect l="l" t="t" r="r" b="b"/>
            <a:pathLst>
              <a:path w="310896" h="310897">
                <a:moveTo>
                  <a:pt x="0" y="31090"/>
                </a:moveTo>
                <a:lnTo>
                  <a:pt x="155448" y="0"/>
                </a:lnTo>
                <a:lnTo>
                  <a:pt x="310896" y="31090"/>
                </a:lnTo>
                <a:lnTo>
                  <a:pt x="310896" y="155449"/>
                </a:lnTo>
                <a:lnTo>
                  <a:pt x="155448" y="310897"/>
                </a:lnTo>
                <a:lnTo>
                  <a:pt x="0" y="155449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863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3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FFFFFF"/>
                </a:solidFill>
                <a:latin typeface="Segoe UI"/>
              </a:rPr>
              <a:t>FRAUDSHIELD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6582" y="260603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94359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CFBF1"/>
                </a:solidFill>
                <a:latin typeface="Segoe UI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46304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spc="40">
                <a:solidFill>
                  <a:srgbClr val="FFFFFF"/>
                </a:solidFill>
                <a:latin typeface="Segoe UI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54864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DBEAFE"/>
                </a:solidFill>
                <a:latin typeface="Segoe UI"/>
              </a:rPr>
              <a:t>Agentic AI Fraud Investigation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46304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657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042415"/>
            <a:ext cx="416052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1042415"/>
            <a:ext cx="4160520" cy="64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1152143"/>
            <a:ext cx="37947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DC2626"/>
                </a:solidFill>
                <a:latin typeface="Segoe UI"/>
              </a:rPr>
              <a:t>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426463"/>
            <a:ext cx="3794759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 b="1">
                <a:solidFill>
                  <a:srgbClr val="DC2626"/>
                </a:solidFill>
                <a:latin typeface="Segoe UI"/>
              </a:rPr>
              <a:t>▪  </a:t>
            </a:r>
            <a:r>
              <a:rPr sz="1000">
                <a:solidFill>
                  <a:srgbClr val="0F172A"/>
                </a:solidFill>
                <a:latin typeface="Segoe UI"/>
              </a:rPr>
              <a:t>Scam messages &amp; phishing links are hard for users to verify.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 b="1">
                <a:solidFill>
                  <a:srgbClr val="DC2626"/>
                </a:solidFill>
                <a:latin typeface="Segoe UI"/>
              </a:rPr>
              <a:t>▪  </a:t>
            </a:r>
            <a:r>
              <a:rPr sz="1000">
                <a:solidFill>
                  <a:srgbClr val="0F172A"/>
                </a:solidFill>
                <a:latin typeface="Segoe UI"/>
              </a:rPr>
              <a:t>Existing tools detect but rarely explain evidence or next steps.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 b="1">
                <a:solidFill>
                  <a:srgbClr val="DC2626"/>
                </a:solidFill>
                <a:latin typeface="Segoe UI"/>
              </a:rPr>
              <a:t>▪  </a:t>
            </a:r>
            <a:r>
              <a:rPr sz="1000">
                <a:solidFill>
                  <a:srgbClr val="0F172A"/>
                </a:solidFill>
                <a:latin typeface="Segoe UI"/>
              </a:rPr>
              <a:t>Fraud signals are often checked in isolation, not together.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 b="1">
                <a:solidFill>
                  <a:srgbClr val="DC2626"/>
                </a:solidFill>
                <a:latin typeface="Segoe UI"/>
              </a:rPr>
              <a:t>▪  </a:t>
            </a:r>
            <a:r>
              <a:rPr sz="1000">
                <a:solidFill>
                  <a:srgbClr val="0F172A"/>
                </a:solidFill>
                <a:latin typeface="Segoe UI"/>
              </a:rPr>
              <a:t>Users need technical risk turned into clear, actionable guidance.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91456" y="1042415"/>
            <a:ext cx="649224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1456" y="1042415"/>
            <a:ext cx="64922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2624" y="1152143"/>
            <a:ext cx="61264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1D4ED8"/>
                </a:solidFill>
                <a:latin typeface="Segoe UI"/>
              </a:rPr>
              <a:t>OUR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2624" y="1408176"/>
            <a:ext cx="61264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5647E"/>
                </a:solidFill>
                <a:latin typeface="Segoe UI"/>
              </a:rPr>
              <a:t>FraudShield AI is an Agentic AI fraud-investigation platform that: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2624" y="1645919"/>
            <a:ext cx="29718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1">
                <a:solidFill>
                  <a:srgbClr val="2563EB"/>
                </a:solidFill>
                <a:latin typeface="Segoe UI"/>
              </a:rPr>
              <a:t>▪  </a:t>
            </a:r>
            <a:r>
              <a:rPr sz="930">
                <a:solidFill>
                  <a:srgbClr val="0F172A"/>
                </a:solidFill>
                <a:latin typeface="Segoe UI"/>
              </a:rPr>
              <a:t>Accepts SMS, email, URL, phone &amp; transaction inputs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1">
                <a:solidFill>
                  <a:srgbClr val="2563EB"/>
                </a:solidFill>
                <a:latin typeface="Segoe UI"/>
              </a:rPr>
              <a:t>▪  </a:t>
            </a:r>
            <a:r>
              <a:rPr sz="930">
                <a:solidFill>
                  <a:srgbClr val="0F172A"/>
                </a:solidFill>
                <a:latin typeface="Segoe UI"/>
              </a:rPr>
              <a:t>Classifies the case automatically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1">
                <a:solidFill>
                  <a:srgbClr val="2563EB"/>
                </a:solidFill>
                <a:latin typeface="Segoe UI"/>
              </a:rPr>
              <a:t>▪  </a:t>
            </a:r>
            <a:r>
              <a:rPr sz="930">
                <a:solidFill>
                  <a:srgbClr val="0F172A"/>
                </a:solidFill>
                <a:latin typeface="Segoe UI"/>
              </a:rPr>
              <a:t>Dynamically selects relevant investigation tools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1">
                <a:solidFill>
                  <a:srgbClr val="2563EB"/>
                </a:solidFill>
                <a:latin typeface="Segoe UI"/>
              </a:rPr>
              <a:t>▪  </a:t>
            </a:r>
            <a:r>
              <a:rPr sz="930">
                <a:solidFill>
                  <a:srgbClr val="0F172A"/>
                </a:solidFill>
                <a:latin typeface="Segoe UI"/>
              </a:rPr>
              <a:t>Collects structured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1645919"/>
            <a:ext cx="29718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1">
                <a:solidFill>
                  <a:srgbClr val="2563EB"/>
                </a:solidFill>
                <a:latin typeface="Segoe UI"/>
              </a:rPr>
              <a:t>▪  </a:t>
            </a:r>
            <a:r>
              <a:rPr sz="930">
                <a:solidFill>
                  <a:srgbClr val="0F172A"/>
                </a:solidFill>
                <a:latin typeface="Segoe UI"/>
              </a:rPr>
              <a:t>Fuses ML, rules &amp; threat intelligence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1">
                <a:solidFill>
                  <a:srgbClr val="2563EB"/>
                </a:solidFill>
                <a:latin typeface="Segoe UI"/>
              </a:rPr>
              <a:t>▪  </a:t>
            </a:r>
            <a:r>
              <a:rPr sz="930">
                <a:solidFill>
                  <a:srgbClr val="0F172A"/>
                </a:solidFill>
                <a:latin typeface="Segoe UI"/>
              </a:rPr>
              <a:t>Generates an explainable risk assessment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1">
                <a:solidFill>
                  <a:srgbClr val="2563EB"/>
                </a:solidFill>
                <a:latin typeface="Segoe UI"/>
              </a:rPr>
              <a:t>▪  </a:t>
            </a:r>
            <a:r>
              <a:rPr sz="930">
                <a:solidFill>
                  <a:srgbClr val="0F172A"/>
                </a:solidFill>
                <a:latin typeface="Segoe UI"/>
              </a:rPr>
              <a:t>Recommends safe next 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2843784"/>
            <a:ext cx="64008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2816352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0A1B33"/>
                </a:solidFill>
                <a:latin typeface="Segoe UI"/>
              </a:rPr>
              <a:t>HOW THE AGENT INVESTIGATES A CASE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2599" y="3163824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USER</a:t>
            </a:r>
          </a:p>
          <a:p>
            <a:pPr algn="ctr"/>
            <a:r>
              <a:rPr sz="930" b="1">
                <a:solidFill>
                  <a:srgbClr val="FFFFFF"/>
                </a:solidFill>
                <a:latin typeface="Segoe UI"/>
              </a:rPr>
              <a:t>INPUT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081631" y="3383097"/>
            <a:ext cx="164592" cy="12838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55367" y="3163824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AI FRAUD</a:t>
            </a:r>
          </a:p>
          <a:p>
            <a:pPr algn="ctr"/>
            <a:r>
              <a:rPr sz="93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654399" y="3383097"/>
            <a:ext cx="164592" cy="12838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28135" y="3163824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DYNAMIC TOOL</a:t>
            </a:r>
          </a:p>
          <a:p>
            <a:pPr algn="ctr"/>
            <a:r>
              <a:rPr sz="930" b="1">
                <a:solidFill>
                  <a:srgbClr val="FFFFFF"/>
                </a:solidFill>
                <a:latin typeface="Segoe UI"/>
              </a:rPr>
              <a:t>SELECTION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227167" y="3383097"/>
            <a:ext cx="164592" cy="12838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00903" y="3163824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EVIDENCE</a:t>
            </a:r>
          </a:p>
          <a:p>
            <a:pPr algn="ctr"/>
            <a:r>
              <a:rPr sz="930" b="1">
                <a:solidFill>
                  <a:srgbClr val="FFFFFF"/>
                </a:solidFill>
                <a:latin typeface="Segoe UI"/>
              </a:rPr>
              <a:t>COLLECTION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799935" y="3383097"/>
            <a:ext cx="164592" cy="12838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73671" y="3163824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RISK</a:t>
            </a:r>
          </a:p>
          <a:p>
            <a:pPr algn="ctr"/>
            <a:r>
              <a:rPr sz="930" b="1">
                <a:solidFill>
                  <a:srgbClr val="FFFFFF"/>
                </a:solidFill>
                <a:latin typeface="Segoe UI"/>
              </a:rPr>
              <a:t>ENGINE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372703" y="3383097"/>
            <a:ext cx="164592" cy="12838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546439" y="3163824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EXPLAINABLE</a:t>
            </a:r>
          </a:p>
          <a:p>
            <a:pPr algn="ctr"/>
            <a:r>
              <a:rPr sz="930" b="1">
                <a:solidFill>
                  <a:srgbClr val="FFFFFF"/>
                </a:solidFill>
                <a:latin typeface="Segoe UI"/>
              </a:rPr>
              <a:t>RESULT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945471" y="3383097"/>
            <a:ext cx="164592" cy="12838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19207" y="3163824"/>
            <a:ext cx="1389888" cy="566928"/>
          </a:xfrm>
          <a:prstGeom prst="roundRect">
            <a:avLst>
              <a:gd name="adj" fmla="val 1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RECOMMENDED</a:t>
            </a:r>
          </a:p>
          <a:p>
            <a:pPr algn="ctr"/>
            <a:r>
              <a:rPr sz="930" b="1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3803904"/>
            <a:ext cx="1136873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55647E"/>
                </a:solidFill>
                <a:latin typeface="Segoe UI"/>
              </a:rPr>
              <a:t>Core innovation: the agent performs Dynamic Tool Selection instead of running a fixed pipeline.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142232"/>
            <a:ext cx="64008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411480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0A1B33"/>
                </a:solidFill>
                <a:latin typeface="Segoe UI"/>
              </a:rPr>
              <a:t>INNOVATION &amp; UNIQUENESS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4443984"/>
            <a:ext cx="2156703" cy="17007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4443984"/>
            <a:ext cx="2156703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61231" y="466344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61231" y="46634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" y="5285232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60" b="1" i="0">
                <a:solidFill>
                  <a:srgbClr val="0A1B33"/>
                </a:solidFill>
                <a:latin typeface="Segoe UI"/>
              </a:rPr>
              <a:t>Agentic Investigation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" y="5669280"/>
            <a:ext cx="1864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AI dynamically selects tools based on the case.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14487" y="4443984"/>
            <a:ext cx="2156703" cy="17007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14487" y="4443984"/>
            <a:ext cx="2156703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564239" y="46634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64239" y="46634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42503" y="5285232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60" b="1" i="0">
                <a:solidFill>
                  <a:srgbClr val="0A1B33"/>
                </a:solidFill>
                <a:latin typeface="Segoe UI"/>
              </a:rPr>
              <a:t>Evidence Fusion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60791" y="5669280"/>
            <a:ext cx="1864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Combines ML, rules and threat intelligence.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17495" y="4443984"/>
            <a:ext cx="2156703" cy="17007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17495" y="4443984"/>
            <a:ext cx="2156703" cy="54864"/>
          </a:xfrm>
          <a:prstGeom prst="rect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67247" y="4663440"/>
            <a:ext cx="457200" cy="45720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67247" y="46634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45511" y="5285232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60" b="1" i="0">
                <a:solidFill>
                  <a:srgbClr val="0A1B33"/>
                </a:solidFill>
                <a:latin typeface="Segoe UI"/>
              </a:rPr>
              <a:t>Explainable Risk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63799" y="5669280"/>
            <a:ext cx="1864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Shows why a case was flagged.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20503" y="4443984"/>
            <a:ext cx="2156703" cy="17007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20503" y="4443984"/>
            <a:ext cx="2156703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170255" y="4663440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70255" y="46634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48519" y="5285232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60" b="1" i="0">
                <a:solidFill>
                  <a:srgbClr val="0A1B33"/>
                </a:solidFill>
                <a:latin typeface="Segoe UI"/>
              </a:rPr>
              <a:t>Human-in-the-Loop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66807" y="5669280"/>
            <a:ext cx="1864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High-risk cases reviewed before action.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23511" y="4443984"/>
            <a:ext cx="2156703" cy="17007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623511" y="4443984"/>
            <a:ext cx="2156703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473263" y="4663440"/>
            <a:ext cx="457200" cy="4572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73263" y="46634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"/>
              </a:rPr>
              <a:t>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51527" y="5285232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60" b="1" i="0">
                <a:solidFill>
                  <a:srgbClr val="0A1B33"/>
                </a:solidFill>
                <a:latin typeface="Segoe UI"/>
              </a:rPr>
              <a:t>Continuous Feedback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69815" y="5669280"/>
            <a:ext cx="1864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False-positive feedback improves the system.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11480" y="6547104"/>
            <a:ext cx="11368735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411480" y="662940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0" y="14630"/>
                </a:moveTo>
                <a:lnTo>
                  <a:pt x="73152" y="0"/>
                </a:lnTo>
                <a:lnTo>
                  <a:pt x="146304" y="14630"/>
                </a:lnTo>
                <a:lnTo>
                  <a:pt x="146304" y="73152"/>
                </a:lnTo>
                <a:lnTo>
                  <a:pt x="73152" y="146304"/>
                </a:lnTo>
                <a:lnTo>
                  <a:pt x="0" y="73152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6652808"/>
            <a:ext cx="14630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" y="6601968"/>
            <a:ext cx="59436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647E"/>
                </a:solidFill>
                <a:latin typeface="Segoe UI"/>
              </a:rPr>
              <a:t>FRAUDSHIELD AI  ·  Detect · Investigate · Explain · Act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0" y="6601968"/>
            <a:ext cx="309067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5647E"/>
                </a:solidFill>
                <a:latin typeface="Segoe UI"/>
              </a:rPr>
              <a:t>Page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11480" y="278891"/>
            <a:ext cx="310896" cy="310897"/>
          </a:xfrm>
          <a:custGeom>
            <a:avLst/>
            <a:gdLst/>
            <a:ahLst/>
            <a:cxnLst/>
            <a:rect l="l" t="t" r="r" b="b"/>
            <a:pathLst>
              <a:path w="310896" h="310897">
                <a:moveTo>
                  <a:pt x="0" y="31090"/>
                </a:moveTo>
                <a:lnTo>
                  <a:pt x="155448" y="0"/>
                </a:lnTo>
                <a:lnTo>
                  <a:pt x="310896" y="31090"/>
                </a:lnTo>
                <a:lnTo>
                  <a:pt x="310896" y="155449"/>
                </a:lnTo>
                <a:lnTo>
                  <a:pt x="155448" y="310897"/>
                </a:lnTo>
                <a:lnTo>
                  <a:pt x="0" y="155449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863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3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FFFFFF"/>
                </a:solidFill>
                <a:latin typeface="Segoe UI"/>
              </a:rPr>
              <a:t>FRAUDSHIELD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6582" y="260603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94359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CFBF1"/>
                </a:solidFill>
                <a:latin typeface="Segoe UI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46304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spc="40">
                <a:solidFill>
                  <a:srgbClr val="FFFFFF"/>
                </a:solidFill>
                <a:latin typeface="Segoe UI"/>
              </a:rPr>
              <a:t>TECHNICAL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54864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DBEAFE"/>
                </a:solidFill>
                <a:latin typeface="Segoe UI"/>
              </a:rPr>
              <a:t>Agent-Centered 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46304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657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051560"/>
            <a:ext cx="64008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" y="1024128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0A1B33"/>
                </a:solidFill>
                <a:latin typeface="Segoe UI"/>
              </a:rPr>
              <a:t>SYSTEM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353312"/>
            <a:ext cx="6720840" cy="274320"/>
          </a:xfrm>
          <a:prstGeom prst="roundRect">
            <a:avLst>
              <a:gd name="adj" fmla="val 14000"/>
            </a:avLst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>
              <a:lnSpc>
                <a:spcPct val="98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1705356"/>
            <a:ext cx="6720840" cy="274320"/>
          </a:xfrm>
          <a:prstGeom prst="roundRect">
            <a:avLst>
              <a:gd name="adj" fmla="val 14000"/>
            </a:avLst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>
              <a:lnSpc>
                <a:spcPct val="98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REACT WEB 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057400"/>
            <a:ext cx="6720840" cy="274320"/>
          </a:xfrm>
          <a:prstGeom prst="roundRect">
            <a:avLst>
              <a:gd name="adj" fmla="val 14000"/>
            </a:avLst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>
              <a:lnSpc>
                <a:spcPct val="98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SUPABASE AUTH /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409444"/>
            <a:ext cx="6720840" cy="420624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>
              <a:lnSpc>
                <a:spcPct val="98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FRAUD INVESTIGATION AGENT</a:t>
            </a:r>
          </a:p>
          <a:p>
            <a:pPr algn="ctr"/>
            <a:r>
              <a:rPr sz="800" b="0">
                <a:solidFill>
                  <a:srgbClr val="CCFBF1"/>
                </a:solidFill>
                <a:latin typeface="Segoe UI"/>
              </a:rPr>
              <a:t>LangGraph + Gemini  ·  the system's central brain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907791"/>
            <a:ext cx="6720840" cy="274320"/>
          </a:xfrm>
          <a:prstGeom prst="roundRect">
            <a:avLst>
              <a:gd name="adj" fmla="val 14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>
              <a:lnSpc>
                <a:spcPct val="98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DYNAMIC TOOL ROUTER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259835"/>
            <a:ext cx="2191512" cy="38404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840" b="1">
                <a:solidFill>
                  <a:srgbClr val="1D4ED8"/>
                </a:solidFill>
                <a:latin typeface="Segoe UI"/>
              </a:rPr>
              <a:t>Message</a:t>
            </a:r>
          </a:p>
          <a:p>
            <a:pPr algn="ctr"/>
            <a:r>
              <a:rPr sz="840" b="1">
                <a:solidFill>
                  <a:srgbClr val="1D4ED8"/>
                </a:solidFill>
                <a:latin typeface="Segoe UI"/>
              </a:rPr>
              <a:t>Analyzer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76144" y="3259835"/>
            <a:ext cx="2191512" cy="38404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840" b="1">
                <a:solidFill>
                  <a:srgbClr val="1D4ED8"/>
                </a:solidFill>
                <a:latin typeface="Segoe UI"/>
              </a:rPr>
              <a:t>URL</a:t>
            </a:r>
          </a:p>
          <a:p>
            <a:pPr algn="ctr"/>
            <a:r>
              <a:rPr sz="840" b="1">
                <a:solidFill>
                  <a:srgbClr val="1D4ED8"/>
                </a:solidFill>
                <a:latin typeface="Segoe UI"/>
              </a:rPr>
              <a:t>Analyzer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40808" y="3259835"/>
            <a:ext cx="2191512" cy="38404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840" b="1">
                <a:solidFill>
                  <a:srgbClr val="1D4ED8"/>
                </a:solidFill>
                <a:latin typeface="Segoe UI"/>
              </a:rPr>
              <a:t>Transaction</a:t>
            </a:r>
          </a:p>
          <a:p>
            <a:pPr algn="ctr"/>
            <a:r>
              <a:rPr sz="840" b="1">
                <a:solidFill>
                  <a:srgbClr val="1D4ED8"/>
                </a:solidFill>
                <a:latin typeface="Segoe UI"/>
              </a:rPr>
              <a:t>Tool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717035"/>
            <a:ext cx="2191512" cy="38404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840" b="1">
                <a:solidFill>
                  <a:srgbClr val="1D4ED8"/>
                </a:solidFill>
                <a:latin typeface="Segoe UI"/>
              </a:rPr>
              <a:t>Scam Pattern</a:t>
            </a:r>
          </a:p>
          <a:p>
            <a:pPr algn="ctr"/>
            <a:r>
              <a:rPr sz="840" b="1">
                <a:solidFill>
                  <a:srgbClr val="1D4ED8"/>
                </a:solidFill>
                <a:latin typeface="Segoe UI"/>
              </a:rPr>
              <a:t>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76144" y="3717035"/>
            <a:ext cx="2191512" cy="38404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840" b="1">
                <a:solidFill>
                  <a:srgbClr val="1D4ED8"/>
                </a:solidFill>
                <a:latin typeface="Segoe UI"/>
              </a:rPr>
              <a:t>Threat</a:t>
            </a:r>
          </a:p>
          <a:p>
            <a:pPr algn="ctr"/>
            <a:r>
              <a:rPr sz="840" b="1">
                <a:solidFill>
                  <a:srgbClr val="1D4ED8"/>
                </a:solidFill>
                <a:latin typeface="Segoe UI"/>
              </a:rPr>
              <a:t>Intel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40808" y="3717035"/>
            <a:ext cx="2191512" cy="38404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840" b="1">
                <a:solidFill>
                  <a:srgbClr val="1D4ED8"/>
                </a:solidFill>
                <a:latin typeface="Segoe UI"/>
              </a:rPr>
              <a:t>Risk</a:t>
            </a:r>
          </a:p>
          <a:p>
            <a:pPr algn="ctr"/>
            <a:r>
              <a:rPr sz="840" b="1">
                <a:solidFill>
                  <a:srgbClr val="1D4ED8"/>
                </a:solidFill>
                <a:latin typeface="Segoe UI"/>
              </a:rPr>
              <a:t>Calculator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178807"/>
            <a:ext cx="6720840" cy="274320"/>
          </a:xfrm>
          <a:prstGeom prst="roundRect">
            <a:avLst>
              <a:gd name="adj" fmla="val 14000"/>
            </a:avLst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>
              <a:lnSpc>
                <a:spcPct val="98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EVIDENCE FUSION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530851"/>
            <a:ext cx="6720840" cy="274320"/>
          </a:xfrm>
          <a:prstGeom prst="roundRect">
            <a:avLst>
              <a:gd name="adj" fmla="val 14000"/>
            </a:avLst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>
              <a:lnSpc>
                <a:spcPct val="98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ML + RULE-BASED RISK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882895"/>
            <a:ext cx="6720840" cy="274320"/>
          </a:xfrm>
          <a:prstGeom prst="roundRect">
            <a:avLst>
              <a:gd name="adj" fmla="val 14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>
              <a:lnSpc>
                <a:spcPct val="98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EXPLANATION + ACTION RECOMMENDER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234939"/>
            <a:ext cx="6720840" cy="274320"/>
          </a:xfrm>
          <a:prstGeom prst="roundRect">
            <a:avLst>
              <a:gd name="adj" fmla="val 14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>
              <a:lnSpc>
                <a:spcPct val="98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SUPABASE DATABASE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586983"/>
            <a:ext cx="6720840" cy="274320"/>
          </a:xfrm>
          <a:prstGeom prst="roundRect">
            <a:avLst>
              <a:gd name="adj" fmla="val 14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>
              <a:lnSpc>
                <a:spcPct val="98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DASHBOARD  /  ALERTS  /  CASE HISTORY</a:t>
            </a:r>
          </a:p>
        </p:txBody>
      </p:sp>
      <p:sp>
        <p:nvSpPr>
          <p:cNvPr id="32" name="Oval 31"/>
          <p:cNvSpPr/>
          <p:nvPr/>
        </p:nvSpPr>
        <p:spPr>
          <a:xfrm>
            <a:off x="411480" y="5971031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925311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647E"/>
                </a:solidFill>
                <a:latin typeface="Segoe UI"/>
              </a:rPr>
              <a:t>Low</a:t>
            </a:r>
          </a:p>
        </p:txBody>
      </p:sp>
      <p:sp>
        <p:nvSpPr>
          <p:cNvPr id="34" name="Oval 33"/>
          <p:cNvSpPr/>
          <p:nvPr/>
        </p:nvSpPr>
        <p:spPr>
          <a:xfrm>
            <a:off x="1280160" y="5971031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17319" y="5925311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647E"/>
                </a:solidFill>
                <a:latin typeface="Segoe UI"/>
              </a:rPr>
              <a:t>Medium</a:t>
            </a:r>
          </a:p>
        </p:txBody>
      </p:sp>
      <p:sp>
        <p:nvSpPr>
          <p:cNvPr id="36" name="Oval 35"/>
          <p:cNvSpPr/>
          <p:nvPr/>
        </p:nvSpPr>
        <p:spPr>
          <a:xfrm>
            <a:off x="2148839" y="5971031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5999" y="5925311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647E"/>
                </a:solidFill>
                <a:latin typeface="Segoe UI"/>
              </a:rPr>
              <a:t>High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88352" y="1051560"/>
            <a:ext cx="64008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34656" y="1024128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0A1B33"/>
                </a:solidFill>
                <a:latin typeface="Segoe UI"/>
              </a:rPr>
              <a:t>TECH STACK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88352" y="1353312"/>
            <a:ext cx="4391863" cy="2788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88352" y="1353312"/>
            <a:ext cx="54864" cy="2788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34656" y="1385316"/>
            <a:ext cx="4117543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40">
                <a:solidFill>
                  <a:srgbClr val="0F766E"/>
                </a:solidFill>
                <a:latin typeface="Segoe UI"/>
              </a:rPr>
              <a:t>FRONTEND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34656" y="1522476"/>
            <a:ext cx="4117543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React · TypeScript · Tailwind CSS · shadcn/ui · Recharts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88352" y="1687068"/>
            <a:ext cx="4391863" cy="2788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88352" y="1687068"/>
            <a:ext cx="54864" cy="2788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34656" y="1719072"/>
            <a:ext cx="4117543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40">
                <a:solidFill>
                  <a:srgbClr val="0F766E"/>
                </a:solidFill>
                <a:latin typeface="Segoe UI"/>
              </a:rPr>
              <a:t>BACKEND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34656" y="1856231"/>
            <a:ext cx="4117543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Supabase · PostgreSQL · Edge Functions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88352" y="2020824"/>
            <a:ext cx="4391863" cy="2788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88352" y="2020824"/>
            <a:ext cx="54864" cy="2788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34656" y="2052828"/>
            <a:ext cx="4117543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40">
                <a:solidFill>
                  <a:srgbClr val="0F766E"/>
                </a:solidFill>
                <a:latin typeface="Segoe UI"/>
              </a:rPr>
              <a:t>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34656" y="2189988"/>
            <a:ext cx="4117543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Gemini API · LangGraph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88352" y="2354580"/>
            <a:ext cx="4391863" cy="2788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88352" y="2354580"/>
            <a:ext cx="54864" cy="2788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34656" y="2386584"/>
            <a:ext cx="4117543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40">
                <a:solidFill>
                  <a:srgbClr val="0F766E"/>
                </a:solidFill>
                <a:latin typeface="Segoe UI"/>
              </a:rPr>
              <a:t>ML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34656" y="2523744"/>
            <a:ext cx="4117543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Python · Scikit-learn · Pandas · NumPy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88352" y="2688336"/>
            <a:ext cx="4391863" cy="2788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88352" y="2688336"/>
            <a:ext cx="54864" cy="2788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34656" y="2720340"/>
            <a:ext cx="4117543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40">
                <a:solidFill>
                  <a:srgbClr val="0F766E"/>
                </a:solidFill>
                <a:latin typeface="Segoe UI"/>
              </a:rPr>
              <a:t>DATA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34656" y="2857500"/>
            <a:ext cx="4117543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UCI SMS Spam · UCI Phishing URLs · Credit Card Fraud (Kaggle/ULB)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88352" y="3022091"/>
            <a:ext cx="4391863" cy="2788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88352" y="3022091"/>
            <a:ext cx="54864" cy="2788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34656" y="3054096"/>
            <a:ext cx="4117543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40">
                <a:solidFill>
                  <a:srgbClr val="0F766E"/>
                </a:solidFill>
                <a:latin typeface="Segoe UI"/>
              </a:rPr>
              <a:t>THREAT INTEL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34656" y="3191256"/>
            <a:ext cx="4117543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PhishTank (where available)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88352" y="3355848"/>
            <a:ext cx="4391863" cy="2788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88352" y="3355848"/>
            <a:ext cx="54864" cy="2788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34656" y="3387852"/>
            <a:ext cx="4117543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40">
                <a:solidFill>
                  <a:srgbClr val="0F766E"/>
                </a:solidFill>
                <a:latin typeface="Segoe UI"/>
              </a:rPr>
              <a:t>DEV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34656" y="3525012"/>
            <a:ext cx="4117543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GitHub · VS Code · Claude Code (AI-assisted)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88352" y="3689604"/>
            <a:ext cx="4391863" cy="2788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8352" y="3689604"/>
            <a:ext cx="54864" cy="2788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34656" y="3721608"/>
            <a:ext cx="4117543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40">
                <a:solidFill>
                  <a:srgbClr val="0F766E"/>
                </a:solidFill>
                <a:latin typeface="Segoe UI"/>
              </a:rPr>
              <a:t>DEPLOY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34656" y="3858768"/>
            <a:ext cx="4117543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Cloudflare Pages · Supabase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88352" y="4215384"/>
            <a:ext cx="64008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34656" y="4187952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0A1B33"/>
                </a:solidFill>
                <a:latin typeface="Segoe UI"/>
              </a:rPr>
              <a:t>IMPLEMENTATION FLOW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507224" y="4581144"/>
            <a:ext cx="0" cy="1504187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7422642" y="4498848"/>
            <a:ext cx="169164" cy="1691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22642" y="4498848"/>
            <a:ext cx="169164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08392" y="4480560"/>
            <a:ext cx="411754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172A"/>
                </a:solidFill>
                <a:latin typeface="Segoe UI"/>
              </a:rPr>
              <a:t>Input received</a:t>
            </a:r>
          </a:p>
        </p:txBody>
      </p:sp>
      <p:sp>
        <p:nvSpPr>
          <p:cNvPr id="78" name="Oval 77"/>
          <p:cNvSpPr/>
          <p:nvPr/>
        </p:nvSpPr>
        <p:spPr>
          <a:xfrm>
            <a:off x="7422642" y="4713732"/>
            <a:ext cx="169164" cy="1691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22642" y="4713732"/>
            <a:ext cx="169164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08392" y="4695444"/>
            <a:ext cx="411754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172A"/>
                </a:solidFill>
                <a:latin typeface="Segoe UI"/>
              </a:rPr>
              <a:t>Input classified</a:t>
            </a:r>
          </a:p>
        </p:txBody>
      </p:sp>
      <p:sp>
        <p:nvSpPr>
          <p:cNvPr id="81" name="Oval 80"/>
          <p:cNvSpPr/>
          <p:nvPr/>
        </p:nvSpPr>
        <p:spPr>
          <a:xfrm>
            <a:off x="7422642" y="4928616"/>
            <a:ext cx="169164" cy="1691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22642" y="4928616"/>
            <a:ext cx="169164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08392" y="4910328"/>
            <a:ext cx="411754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172A"/>
                </a:solidFill>
                <a:latin typeface="Segoe UI"/>
              </a:rPr>
              <a:t>Relevant tools selected</a:t>
            </a:r>
          </a:p>
        </p:txBody>
      </p:sp>
      <p:sp>
        <p:nvSpPr>
          <p:cNvPr id="84" name="Oval 83"/>
          <p:cNvSpPr/>
          <p:nvPr/>
        </p:nvSpPr>
        <p:spPr>
          <a:xfrm>
            <a:off x="7422642" y="5143500"/>
            <a:ext cx="169164" cy="1691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22642" y="5143500"/>
            <a:ext cx="169164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08392" y="5125212"/>
            <a:ext cx="411754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172A"/>
                </a:solidFill>
                <a:latin typeface="Segoe UI"/>
              </a:rPr>
              <a:t>Evidence collected</a:t>
            </a:r>
          </a:p>
        </p:txBody>
      </p:sp>
      <p:sp>
        <p:nvSpPr>
          <p:cNvPr id="87" name="Oval 86"/>
          <p:cNvSpPr/>
          <p:nvPr/>
        </p:nvSpPr>
        <p:spPr>
          <a:xfrm>
            <a:off x="7422642" y="5358383"/>
            <a:ext cx="169164" cy="1691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22642" y="5358383"/>
            <a:ext cx="169164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08392" y="5340096"/>
            <a:ext cx="411754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172A"/>
                </a:solidFill>
                <a:latin typeface="Segoe UI"/>
              </a:rPr>
              <a:t>Risk calculated</a:t>
            </a:r>
          </a:p>
        </p:txBody>
      </p:sp>
      <p:sp>
        <p:nvSpPr>
          <p:cNvPr id="90" name="Oval 89"/>
          <p:cNvSpPr/>
          <p:nvPr/>
        </p:nvSpPr>
        <p:spPr>
          <a:xfrm>
            <a:off x="7422642" y="5573268"/>
            <a:ext cx="169164" cy="1691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422642" y="5573268"/>
            <a:ext cx="169164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08392" y="5554980"/>
            <a:ext cx="411754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172A"/>
                </a:solidFill>
                <a:latin typeface="Segoe UI"/>
              </a:rPr>
              <a:t>Explanation generated</a:t>
            </a:r>
          </a:p>
        </p:txBody>
      </p:sp>
      <p:sp>
        <p:nvSpPr>
          <p:cNvPr id="93" name="Oval 92"/>
          <p:cNvSpPr/>
          <p:nvPr/>
        </p:nvSpPr>
        <p:spPr>
          <a:xfrm>
            <a:off x="7422642" y="5788152"/>
            <a:ext cx="169164" cy="1691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22642" y="5788152"/>
            <a:ext cx="169164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08392" y="5769864"/>
            <a:ext cx="411754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172A"/>
                </a:solidFill>
                <a:latin typeface="Segoe UI"/>
              </a:rPr>
              <a:t>Action recommended</a:t>
            </a:r>
          </a:p>
        </p:txBody>
      </p:sp>
      <p:sp>
        <p:nvSpPr>
          <p:cNvPr id="96" name="Oval 95"/>
          <p:cNvSpPr/>
          <p:nvPr/>
        </p:nvSpPr>
        <p:spPr>
          <a:xfrm>
            <a:off x="7422642" y="6003036"/>
            <a:ext cx="169164" cy="1691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22642" y="6003036"/>
            <a:ext cx="169164" cy="1691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08392" y="5984748"/>
            <a:ext cx="411754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F172A"/>
                </a:solidFill>
                <a:latin typeface="Segoe UI"/>
              </a:rPr>
              <a:t>Case stored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411480" y="6547104"/>
            <a:ext cx="11368735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Freeform 99"/>
          <p:cNvSpPr/>
          <p:nvPr/>
        </p:nvSpPr>
        <p:spPr>
          <a:xfrm>
            <a:off x="411480" y="662940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0" y="14630"/>
                </a:moveTo>
                <a:lnTo>
                  <a:pt x="73152" y="0"/>
                </a:lnTo>
                <a:lnTo>
                  <a:pt x="146304" y="14630"/>
                </a:lnTo>
                <a:lnTo>
                  <a:pt x="146304" y="73152"/>
                </a:lnTo>
                <a:lnTo>
                  <a:pt x="73152" y="146304"/>
                </a:lnTo>
                <a:lnTo>
                  <a:pt x="0" y="73152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1480" y="6652808"/>
            <a:ext cx="14630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" y="6601968"/>
            <a:ext cx="59436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647E"/>
                </a:solidFill>
                <a:latin typeface="Segoe UI"/>
              </a:rPr>
              <a:t>FRAUDSHIELD AI  ·  Detect · Investigate · Explain · Act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86800" y="6601968"/>
            <a:ext cx="309067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5647E"/>
                </a:solidFill>
                <a:latin typeface="Segoe UI"/>
              </a:rPr>
              <a:t>Page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11480" y="278891"/>
            <a:ext cx="310896" cy="310897"/>
          </a:xfrm>
          <a:custGeom>
            <a:avLst/>
            <a:gdLst/>
            <a:ahLst/>
            <a:cxnLst/>
            <a:rect l="l" t="t" r="r" b="b"/>
            <a:pathLst>
              <a:path w="310896" h="310897">
                <a:moveTo>
                  <a:pt x="0" y="31090"/>
                </a:moveTo>
                <a:lnTo>
                  <a:pt x="155448" y="0"/>
                </a:lnTo>
                <a:lnTo>
                  <a:pt x="310896" y="31090"/>
                </a:lnTo>
                <a:lnTo>
                  <a:pt x="310896" y="155449"/>
                </a:lnTo>
                <a:lnTo>
                  <a:pt x="155448" y="310897"/>
                </a:lnTo>
                <a:lnTo>
                  <a:pt x="0" y="155449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863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3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FFFFFF"/>
                </a:solidFill>
                <a:latin typeface="Segoe UI"/>
              </a:rPr>
              <a:t>FRAUDSHIELD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6582" y="260603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94359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CFBF1"/>
                </a:solidFill>
                <a:latin typeface="Segoe UI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33172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spc="40">
                <a:solidFill>
                  <a:srgbClr val="FFFFFF"/>
                </a:solidFill>
                <a:latin typeface="Segoe UI"/>
              </a:rPr>
              <a:t>FEASIBILITY AND VIABILITY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46304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3657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042415"/>
            <a:ext cx="3655466" cy="17007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042415"/>
            <a:ext cx="3655466" cy="59436"/>
          </a:xfrm>
          <a:prstGeom prst="rect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1170431"/>
            <a:ext cx="33262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0A1B33"/>
                </a:solidFill>
                <a:latin typeface="Segoe UI"/>
              </a:rPr>
              <a:t>TECHNICAL 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1554480"/>
            <a:ext cx="3326282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90" b="1">
                <a:solidFill>
                  <a:srgbClr val="27466F"/>
                </a:solidFill>
                <a:latin typeface="Segoe UI"/>
              </a:rPr>
              <a:t>▪  </a:t>
            </a:r>
            <a:r>
              <a:rPr sz="890">
                <a:solidFill>
                  <a:srgbClr val="0F172A"/>
                </a:solidFill>
                <a:latin typeface="Segoe UI"/>
              </a:rPr>
              <a:t>Mature, open-source technologies throughout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90" b="1">
                <a:solidFill>
                  <a:srgbClr val="27466F"/>
                </a:solidFill>
                <a:latin typeface="Segoe UI"/>
              </a:rPr>
              <a:t>▪  </a:t>
            </a:r>
            <a:r>
              <a:rPr sz="890">
                <a:solidFill>
                  <a:srgbClr val="0F172A"/>
                </a:solidFill>
                <a:latin typeface="Segoe UI"/>
              </a:rPr>
              <a:t>React + Supabase simplify application development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90" b="1">
                <a:solidFill>
                  <a:srgbClr val="27466F"/>
                </a:solidFill>
                <a:latin typeface="Segoe UI"/>
              </a:rPr>
              <a:t>▪  </a:t>
            </a:r>
            <a:r>
              <a:rPr sz="890">
                <a:solidFill>
                  <a:srgbClr val="0F172A"/>
                </a:solidFill>
                <a:latin typeface="Segoe UI"/>
              </a:rPr>
              <a:t>LangGraph supports stateful agent workflows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90" b="1">
                <a:solidFill>
                  <a:srgbClr val="27466F"/>
                </a:solidFill>
                <a:latin typeface="Segoe UI"/>
              </a:rPr>
              <a:t>▪  </a:t>
            </a:r>
            <a:r>
              <a:rPr sz="890">
                <a:solidFill>
                  <a:srgbClr val="0F172A"/>
                </a:solidFill>
                <a:latin typeface="Segoe UI"/>
              </a:rPr>
              <a:t>Modular tool architecture — new analyzers plug in easily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8114" y="1042415"/>
            <a:ext cx="3655466" cy="17007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8114" y="1042415"/>
            <a:ext cx="3655466" cy="5943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2706" y="1170431"/>
            <a:ext cx="33262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0A1B33"/>
                </a:solidFill>
                <a:latin typeface="Segoe UI"/>
              </a:rPr>
              <a:t>OPERATIONAL FEASIBILITY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2706" y="1554480"/>
            <a:ext cx="3326282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90" b="1">
                <a:solidFill>
                  <a:srgbClr val="0D9488"/>
                </a:solidFill>
                <a:latin typeface="Segoe UI"/>
              </a:rPr>
              <a:t>▪  </a:t>
            </a:r>
            <a:r>
              <a:rPr sz="890">
                <a:solidFill>
                  <a:srgbClr val="0F172A"/>
                </a:solidFill>
                <a:latin typeface="Segoe UI"/>
              </a:rPr>
              <a:t>Simple web interface for non-technical users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90" b="1">
                <a:solidFill>
                  <a:srgbClr val="0D9488"/>
                </a:solidFill>
                <a:latin typeface="Segoe UI"/>
              </a:rPr>
              <a:t>▪  </a:t>
            </a:r>
            <a:r>
              <a:rPr sz="890">
                <a:solidFill>
                  <a:srgbClr val="0F172A"/>
                </a:solidFill>
                <a:latin typeface="Segoe UI"/>
              </a:rPr>
              <a:t>Investigation results explained in plain language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90" b="1">
                <a:solidFill>
                  <a:srgbClr val="0D9488"/>
                </a:solidFill>
                <a:latin typeface="Segoe UI"/>
              </a:rPr>
              <a:t>▪  </a:t>
            </a:r>
            <a:r>
              <a:rPr sz="890">
                <a:solidFill>
                  <a:srgbClr val="0F172A"/>
                </a:solidFill>
                <a:latin typeface="Segoe UI"/>
              </a:rPr>
              <a:t>High-risk cases flagged for manual review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90" b="1">
                <a:solidFill>
                  <a:srgbClr val="0D9488"/>
                </a:solidFill>
                <a:latin typeface="Segoe UI"/>
              </a:rPr>
              <a:t>▪  </a:t>
            </a:r>
            <a:r>
              <a:rPr sz="890">
                <a:solidFill>
                  <a:srgbClr val="0F172A"/>
                </a:solidFill>
                <a:latin typeface="Segoe UI"/>
              </a:rPr>
              <a:t>Cloud architecture supports centralized case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4748" y="1042415"/>
            <a:ext cx="3655466" cy="17007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4748" y="1042415"/>
            <a:ext cx="3655466" cy="594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9340" y="1170431"/>
            <a:ext cx="33262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0A1B33"/>
                </a:solidFill>
                <a:latin typeface="Segoe UI"/>
              </a:rPr>
              <a:t>ECONOMIC / SCALABILITY VIABILITY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9340" y="1554480"/>
            <a:ext cx="3326282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90" b="1">
                <a:solidFill>
                  <a:srgbClr val="2563EB"/>
                </a:solidFill>
                <a:latin typeface="Segoe UI"/>
              </a:rPr>
              <a:t>▪  </a:t>
            </a:r>
            <a:r>
              <a:rPr sz="890">
                <a:solidFill>
                  <a:srgbClr val="0F172A"/>
                </a:solidFill>
                <a:latin typeface="Segoe UI"/>
              </a:rPr>
              <a:t>Prototype buildable primarily with free / open-source tools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90" b="1">
                <a:solidFill>
                  <a:srgbClr val="2563EB"/>
                </a:solidFill>
                <a:latin typeface="Segoe UI"/>
              </a:rPr>
              <a:t>▪  </a:t>
            </a:r>
            <a:r>
              <a:rPr sz="890">
                <a:solidFill>
                  <a:srgbClr val="0F172A"/>
                </a:solidFill>
                <a:latin typeface="Segoe UI"/>
              </a:rPr>
              <a:t>Serverless architecture reduces infrastructure complexity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90" b="1">
                <a:solidFill>
                  <a:srgbClr val="2563EB"/>
                </a:solidFill>
                <a:latin typeface="Segoe UI"/>
              </a:rPr>
              <a:t>▪  </a:t>
            </a:r>
            <a:r>
              <a:rPr sz="890">
                <a:solidFill>
                  <a:srgbClr val="0F172A"/>
                </a:solidFill>
                <a:latin typeface="Segoe UI"/>
              </a:rPr>
              <a:t>Modular services allow independent scaling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2990088"/>
            <a:ext cx="6400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2962656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0A1B33"/>
                </a:solidFill>
                <a:latin typeface="Segoe UI"/>
              </a:rPr>
              <a:t>CHALLENGES &amp; MITIGATION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291840"/>
            <a:ext cx="5364327" cy="30632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291840"/>
            <a:ext cx="504428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8A1010"/>
                </a:solidFill>
                <a:latin typeface="Segoe UI"/>
              </a:rPr>
              <a:t>False positives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803239" y="3366546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41567" y="3291840"/>
            <a:ext cx="5638647" cy="3063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4447" y="3291840"/>
            <a:ext cx="531860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F5A28"/>
                </a:solidFill>
                <a:latin typeface="Segoe UI"/>
              </a:rPr>
              <a:t>Human review + feedback loop + threshold tuning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3643884"/>
            <a:ext cx="5364327" cy="30632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43884"/>
            <a:ext cx="504428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8A1010"/>
                </a:solidFill>
                <a:latin typeface="Segoe UI"/>
              </a:rPr>
              <a:t>Limited threat-intelligence availability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803239" y="3718590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41567" y="3643884"/>
            <a:ext cx="5638647" cy="3063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4447" y="3643884"/>
            <a:ext cx="531860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F5A28"/>
                </a:solidFill>
                <a:latin typeface="Segoe UI"/>
              </a:rPr>
              <a:t>Local indicators + configurable external adapters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995928"/>
            <a:ext cx="5364327" cy="30632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995928"/>
            <a:ext cx="504428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8A1010"/>
                </a:solidFill>
                <a:latin typeface="Segoe UI"/>
              </a:rPr>
              <a:t>AI hallucination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803239" y="4070634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41567" y="3995928"/>
            <a:ext cx="5638647" cy="3063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4447" y="3995928"/>
            <a:ext cx="531860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F5A28"/>
                </a:solidFill>
                <a:latin typeface="Segoe UI"/>
              </a:rPr>
              <a:t>LLM explains structured evidence — does not invent 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4347972"/>
            <a:ext cx="5364327" cy="30632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347972"/>
            <a:ext cx="504428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8A1010"/>
                </a:solidFill>
                <a:latin typeface="Segoe UI"/>
              </a:rPr>
              <a:t>API / rate limits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803239" y="4422678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41567" y="4347972"/>
            <a:ext cx="5638647" cy="3063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4447" y="4347972"/>
            <a:ext cx="531860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F5A28"/>
                </a:solidFill>
                <a:latin typeface="Segoe UI"/>
              </a:rPr>
              <a:t>Caching + graceful fallback + lightweight local analysis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700016"/>
            <a:ext cx="5364327" cy="30632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700016"/>
            <a:ext cx="504428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8A1010"/>
                </a:solidFill>
                <a:latin typeface="Segoe UI"/>
              </a:rPr>
              <a:t>Sensitive user data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803239" y="4774722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41567" y="4700016"/>
            <a:ext cx="5638647" cy="3063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4447" y="4700016"/>
            <a:ext cx="531860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F5A28"/>
                </a:solidFill>
                <a:latin typeface="Segoe UI"/>
              </a:rPr>
              <a:t>Minimal data collection + authentication + access control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" y="5225796"/>
            <a:ext cx="64008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7784" y="5198364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0A1B33"/>
                </a:solidFill>
                <a:latin typeface="Segoe UI"/>
              </a:rPr>
              <a:t>PRACTICAL IMPLEMENTATION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5527548"/>
            <a:ext cx="2112812" cy="457200"/>
          </a:xfrm>
          <a:prstGeom prst="roundRect">
            <a:avLst>
              <a:gd name="adj" fmla="val 50000"/>
            </a:avLst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MVP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2533436" y="5691957"/>
            <a:ext cx="164592" cy="12838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725460" y="5527548"/>
            <a:ext cx="2112812" cy="457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Pilot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4847417" y="5691957"/>
            <a:ext cx="164592" cy="12838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039441" y="5527548"/>
            <a:ext cx="2112812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Threat Intelligence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Segoe UI"/>
              </a:rPr>
              <a:t>Integration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161397" y="5691957"/>
            <a:ext cx="164592" cy="12838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353421" y="5527548"/>
            <a:ext cx="2112812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Feedback-Based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Segoe UI"/>
              </a:rPr>
              <a:t>Improvement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475378" y="5691957"/>
            <a:ext cx="164592" cy="12838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667402" y="5527548"/>
            <a:ext cx="2112812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5000"/>
              </a:lnSpc>
            </a:pPr>
            <a:r>
              <a:rPr sz="930" b="1">
                <a:solidFill>
                  <a:srgbClr val="FFFFFF"/>
                </a:solidFill>
                <a:latin typeface="Segoe UI"/>
              </a:rPr>
              <a:t>Scalable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Segoe UI"/>
              </a:rPr>
              <a:t>Deployment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11480" y="6547104"/>
            <a:ext cx="11368735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411480" y="662940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0" y="14630"/>
                </a:moveTo>
                <a:lnTo>
                  <a:pt x="73152" y="0"/>
                </a:lnTo>
                <a:lnTo>
                  <a:pt x="146304" y="14630"/>
                </a:lnTo>
                <a:lnTo>
                  <a:pt x="146304" y="73152"/>
                </a:lnTo>
                <a:lnTo>
                  <a:pt x="73152" y="146304"/>
                </a:lnTo>
                <a:lnTo>
                  <a:pt x="0" y="73152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652808"/>
            <a:ext cx="14630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" y="6601968"/>
            <a:ext cx="59436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647E"/>
                </a:solidFill>
                <a:latin typeface="Segoe UI"/>
              </a:rPr>
              <a:t>FRAUDSHIELD AI  ·  Detect · Investigate · Explain · Act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6601968"/>
            <a:ext cx="309067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5647E"/>
                </a:solidFill>
                <a:latin typeface="Segoe UI"/>
              </a:rPr>
              <a:t>Page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11480" y="278891"/>
            <a:ext cx="310896" cy="310897"/>
          </a:xfrm>
          <a:custGeom>
            <a:avLst/>
            <a:gdLst/>
            <a:ahLst/>
            <a:cxnLst/>
            <a:rect l="l" t="t" r="r" b="b"/>
            <a:pathLst>
              <a:path w="310896" h="310897">
                <a:moveTo>
                  <a:pt x="0" y="31090"/>
                </a:moveTo>
                <a:lnTo>
                  <a:pt x="155448" y="0"/>
                </a:lnTo>
                <a:lnTo>
                  <a:pt x="310896" y="31090"/>
                </a:lnTo>
                <a:lnTo>
                  <a:pt x="310896" y="155449"/>
                </a:lnTo>
                <a:lnTo>
                  <a:pt x="155448" y="310897"/>
                </a:lnTo>
                <a:lnTo>
                  <a:pt x="0" y="155449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863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3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FFFFFF"/>
                </a:solidFill>
                <a:latin typeface="Segoe UI"/>
              </a:rPr>
              <a:t>FRAUDSHIELD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6582" y="260603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94359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CFBF1"/>
                </a:solidFill>
                <a:latin typeface="Segoe UI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33172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spc="40">
                <a:solidFill>
                  <a:srgbClr val="FFFFFF"/>
                </a:solidFill>
                <a:latin typeface="Segoe UI"/>
              </a:rPr>
              <a:t>IMPACT AND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46304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3657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3" name="Freeform 12"/>
          <p:cNvSpPr/>
          <p:nvPr/>
        </p:nvSpPr>
        <p:spPr>
          <a:xfrm>
            <a:off x="5547207" y="2221992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80" h="1097280">
                <a:moveTo>
                  <a:pt x="0" y="109728"/>
                </a:moveTo>
                <a:lnTo>
                  <a:pt x="548640" y="0"/>
                </a:lnTo>
                <a:lnTo>
                  <a:pt x="1097280" y="109728"/>
                </a:lnTo>
                <a:lnTo>
                  <a:pt x="1097280" y="548640"/>
                </a:lnTo>
                <a:lnTo>
                  <a:pt x="548640" y="1097280"/>
                </a:lnTo>
                <a:lnTo>
                  <a:pt x="0" y="548640"/>
                </a:lnTo>
                <a:close/>
              </a:path>
            </a:pathLst>
          </a:cu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7207" y="2397556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0007" y="336499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0A1B33"/>
                </a:solidFill>
                <a:latin typeface="Segoe UI"/>
              </a:rPr>
              <a:t>FRAUDSHIELD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2847" y="1042416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2847" y="1042416"/>
            <a:ext cx="54864" cy="1051560"/>
          </a:xfrm>
          <a:prstGeom prst="rect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99151" y="1161288"/>
            <a:ext cx="292608" cy="292608"/>
          </a:xfrm>
          <a:prstGeom prst="ellipse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0007" y="116586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4911" y="112471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0A1B33"/>
                </a:solidFill>
                <a:latin typeface="Segoe UI"/>
              </a:rPr>
              <a:t>INDIVIDUAL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5727" y="1591056"/>
            <a:ext cx="1956816" cy="466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60" b="1">
                <a:solidFill>
                  <a:srgbClr val="10233E"/>
                </a:solidFill>
                <a:latin typeface="Segoe UI"/>
              </a:rPr>
              <a:t>▪  </a:t>
            </a:r>
            <a:r>
              <a:rPr sz="760">
                <a:solidFill>
                  <a:srgbClr val="0F172A"/>
                </a:solidFill>
                <a:latin typeface="Segoe UI"/>
              </a:rPr>
              <a:t>Faster clarity on suspicious content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60" b="1">
                <a:solidFill>
                  <a:srgbClr val="10233E"/>
                </a:solidFill>
                <a:latin typeface="Segoe UI"/>
              </a:rPr>
              <a:t>▪  </a:t>
            </a:r>
            <a:r>
              <a:rPr sz="760">
                <a:solidFill>
                  <a:srgbClr val="0F172A"/>
                </a:solidFill>
                <a:latin typeface="Segoe UI"/>
              </a:rPr>
              <a:t>Clear protective guidance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6254" y="1873278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6254" y="1873278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2558" y="199215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3414" y="199672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8318" y="195557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0A1B33"/>
                </a:solidFill>
                <a:latin typeface="Segoe UI"/>
              </a:rPr>
              <a:t>FINANCIAL / SERVICE
ORGANIZATIONS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9134" y="2421918"/>
            <a:ext cx="1956816" cy="466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60" b="1">
                <a:solidFill>
                  <a:srgbClr val="2563EB"/>
                </a:solidFill>
                <a:latin typeface="Segoe UI"/>
              </a:rPr>
              <a:t>▪  </a:t>
            </a:r>
            <a:r>
              <a:rPr sz="760">
                <a:solidFill>
                  <a:srgbClr val="0F172A"/>
                </a:solidFill>
                <a:latin typeface="Segoe UI"/>
              </a:rPr>
              <a:t>Structured fraud investigation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60" b="1">
                <a:solidFill>
                  <a:srgbClr val="2563EB"/>
                </a:solidFill>
                <a:latin typeface="Segoe UI"/>
              </a:rPr>
              <a:t>▪  </a:t>
            </a:r>
            <a:r>
              <a:rPr sz="760">
                <a:solidFill>
                  <a:srgbClr val="0F172A"/>
                </a:solidFill>
                <a:latin typeface="Segoe UI"/>
              </a:rPr>
              <a:t>Explainable risk signals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71466" y="3217643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1466" y="3217643"/>
            <a:ext cx="54864" cy="10515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7770" y="3336515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8626" y="334108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3530" y="3299939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0A1B33"/>
                </a:solidFill>
                <a:latin typeface="Segoe UI"/>
              </a:rPr>
              <a:t>CYBERSECURITY TEAMS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4346" y="3766283"/>
            <a:ext cx="1956816" cy="466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60" b="1">
                <a:solidFill>
                  <a:srgbClr val="0D9488"/>
                </a:solidFill>
                <a:latin typeface="Segoe UI"/>
              </a:rPr>
              <a:t>▪  </a:t>
            </a:r>
            <a:r>
              <a:rPr sz="760">
                <a:solidFill>
                  <a:srgbClr val="0F172A"/>
                </a:solidFill>
                <a:latin typeface="Segoe UI"/>
              </a:rPr>
              <a:t>Evidence-based investigation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60" b="1">
                <a:solidFill>
                  <a:srgbClr val="0D9488"/>
                </a:solidFill>
                <a:latin typeface="Segoe UI"/>
              </a:rPr>
              <a:t>▪  </a:t>
            </a:r>
            <a:r>
              <a:rPr sz="760">
                <a:solidFill>
                  <a:srgbClr val="0F172A"/>
                </a:solidFill>
                <a:latin typeface="Segoe UI"/>
              </a:rPr>
              <a:t>Tool execution trace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34228" y="3217643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34228" y="3217643"/>
            <a:ext cx="54864" cy="1051560"/>
          </a:xfrm>
          <a:prstGeom prst="rect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680532" y="3336515"/>
            <a:ext cx="292608" cy="292608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71388" y="334108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46292" y="3299939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0A1B33"/>
                </a:solidFill>
                <a:latin typeface="Segoe UI"/>
              </a:rPr>
              <a:t>ENTERPRISES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17108" y="3766283"/>
            <a:ext cx="1956816" cy="466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60" b="1">
                <a:solidFill>
                  <a:srgbClr val="27466F"/>
                </a:solidFill>
                <a:latin typeface="Segoe UI"/>
              </a:rPr>
              <a:t>▪  </a:t>
            </a:r>
            <a:r>
              <a:rPr sz="760">
                <a:solidFill>
                  <a:srgbClr val="0F172A"/>
                </a:solidFill>
                <a:latin typeface="Segoe UI"/>
              </a:rPr>
              <a:t>Reduced manual screening effort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60" b="1">
                <a:solidFill>
                  <a:srgbClr val="27466F"/>
                </a:solidFill>
                <a:latin typeface="Segoe UI"/>
              </a:rPr>
              <a:t>▪  </a:t>
            </a:r>
            <a:r>
              <a:rPr sz="760">
                <a:solidFill>
                  <a:srgbClr val="0F172A"/>
                </a:solidFill>
                <a:latin typeface="Segoe UI"/>
              </a:rPr>
              <a:t>Centralized case history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9440" y="1873278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39440" y="1873278"/>
            <a:ext cx="54864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85744" y="1992150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6600" y="199672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1504" y="195557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0A1B33"/>
                </a:solidFill>
                <a:latin typeface="Segoe UI"/>
              </a:rPr>
              <a:t>GOVERNMENT / LAW
ENFORCEMENT 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2320" y="2421918"/>
            <a:ext cx="1956816" cy="466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60" b="1">
                <a:solidFill>
                  <a:srgbClr val="D97706"/>
                </a:solidFill>
                <a:latin typeface="Segoe UI"/>
              </a:rPr>
              <a:t>▪  </a:t>
            </a:r>
            <a:r>
              <a:rPr sz="760">
                <a:solidFill>
                  <a:srgbClr val="0F172A"/>
                </a:solidFill>
                <a:latin typeface="Segoe UI"/>
              </a:rPr>
              <a:t>Early-warning intelligence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60" b="1">
                <a:solidFill>
                  <a:srgbClr val="D97706"/>
                </a:solidFill>
                <a:latin typeface="Segoe UI"/>
              </a:rPr>
              <a:t>▪  </a:t>
            </a:r>
            <a:r>
              <a:rPr sz="760">
                <a:solidFill>
                  <a:srgbClr val="0F172A"/>
                </a:solidFill>
                <a:latin typeface="Segoe UI"/>
              </a:rPr>
              <a:t>Structured fraud-pattern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455371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1">
                <a:solidFill>
                  <a:srgbClr val="55647E"/>
                </a:solidFill>
                <a:latin typeface="Segoe UI"/>
              </a:rPr>
              <a:t>A decision-support &amp; early-warning platform — not a replacement for banks, police or official cybercrime systems.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837176"/>
            <a:ext cx="64008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" y="4809744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0A1B33"/>
                </a:solidFill>
                <a:latin typeface="Segoe UI"/>
              </a:rPr>
              <a:t>IMPACT PILLARS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5138928"/>
            <a:ext cx="3643274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" y="5138928"/>
            <a:ext cx="54864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" y="5221224"/>
            <a:ext cx="33506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50">
                <a:solidFill>
                  <a:srgbClr val="16A34A"/>
                </a:solidFill>
                <a:latin typeface="Segoe UI"/>
              </a:rPr>
              <a:t>SOCIAL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" y="5413248"/>
            <a:ext cx="335066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55647E"/>
                </a:solidFill>
                <a:latin typeface="Segoe UI"/>
              </a:rPr>
              <a:t>Improves digital safety awareness and helps users respond to suspicious content.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74210" y="5138928"/>
            <a:ext cx="3643274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74210" y="5138928"/>
            <a:ext cx="54864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38802" y="5221224"/>
            <a:ext cx="33506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50">
                <a:solidFill>
                  <a:srgbClr val="2563EB"/>
                </a:solidFill>
                <a:latin typeface="Segoe UI"/>
              </a:rPr>
              <a:t>ECONOMIC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8802" y="5413248"/>
            <a:ext cx="335066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55647E"/>
                </a:solidFill>
                <a:latin typeface="Segoe UI"/>
              </a:rPr>
              <a:t>Can reduce avoidable fraud exposure and streamline initial investigation.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36940" y="5138928"/>
            <a:ext cx="3643274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36940" y="5138928"/>
            <a:ext cx="54864" cy="658368"/>
          </a:xfrm>
          <a:prstGeom prst="rect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01532" y="5221224"/>
            <a:ext cx="335066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50">
                <a:solidFill>
                  <a:srgbClr val="27466F"/>
                </a:solidFill>
                <a:latin typeface="Segoe UI"/>
              </a:rPr>
              <a:t>SECURITY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1532" y="5413248"/>
            <a:ext cx="335066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55647E"/>
                </a:solidFill>
                <a:latin typeface="Segoe UI"/>
              </a:rPr>
              <a:t>Combines multiple signals into an explainable risk assessment.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5925312"/>
            <a:ext cx="11368735" cy="38404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5925312"/>
            <a:ext cx="1136873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1">
                <a:solidFill>
                  <a:srgbClr val="FFFFFF"/>
                </a:solidFill>
                <a:latin typeface="Segoe UI"/>
              </a:rPr>
              <a:t>“From suspicious input to explainable action — in one investigation.”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11480" y="6547104"/>
            <a:ext cx="11368735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411480" y="662940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0" y="14630"/>
                </a:moveTo>
                <a:lnTo>
                  <a:pt x="73152" y="0"/>
                </a:lnTo>
                <a:lnTo>
                  <a:pt x="146304" y="14630"/>
                </a:lnTo>
                <a:lnTo>
                  <a:pt x="146304" y="73152"/>
                </a:lnTo>
                <a:lnTo>
                  <a:pt x="73152" y="146304"/>
                </a:lnTo>
                <a:lnTo>
                  <a:pt x="0" y="73152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652808"/>
            <a:ext cx="14630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" y="6601968"/>
            <a:ext cx="59436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647E"/>
                </a:solidFill>
                <a:latin typeface="Segoe UI"/>
              </a:rPr>
              <a:t>FRAUDSHIELD AI  ·  Detect · Investigate · Explain · Act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6601968"/>
            <a:ext cx="309067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5647E"/>
                </a:solidFill>
                <a:latin typeface="Segoe UI"/>
              </a:rPr>
              <a:t>Page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11480" y="278891"/>
            <a:ext cx="310896" cy="310897"/>
          </a:xfrm>
          <a:custGeom>
            <a:avLst/>
            <a:gdLst/>
            <a:ahLst/>
            <a:cxnLst/>
            <a:rect l="l" t="t" r="r" b="b"/>
            <a:pathLst>
              <a:path w="310896" h="310897">
                <a:moveTo>
                  <a:pt x="0" y="31090"/>
                </a:moveTo>
                <a:lnTo>
                  <a:pt x="155448" y="0"/>
                </a:lnTo>
                <a:lnTo>
                  <a:pt x="310896" y="31090"/>
                </a:lnTo>
                <a:lnTo>
                  <a:pt x="310896" y="155449"/>
                </a:lnTo>
                <a:lnTo>
                  <a:pt x="155448" y="310897"/>
                </a:lnTo>
                <a:lnTo>
                  <a:pt x="0" y="155449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863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3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FFFFFF"/>
                </a:solidFill>
                <a:latin typeface="Segoe UI"/>
              </a:rPr>
              <a:t>FRAUDSHIELD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6582" y="260603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94359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CFBF1"/>
                </a:solidFill>
                <a:latin typeface="Segoe UI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33172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spc="40">
                <a:solidFill>
                  <a:srgbClr val="FFFFFF"/>
                </a:solidFill>
                <a:latin typeface="Segoe UI"/>
              </a:rPr>
              <a:t>RESEARCH AND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46304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3657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042415"/>
            <a:ext cx="5547207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042415"/>
            <a:ext cx="5547207" cy="594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1188719"/>
            <a:ext cx="5108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">
                <a:solidFill>
                  <a:srgbClr val="0A1B33"/>
                </a:solidFill>
                <a:latin typeface="Segoe UI"/>
              </a:rPr>
              <a:t>DATASETS &amp; TECHNICAL REFERENCES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" y="160020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" y="1554480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UCI SMS Spam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" y="174193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archive.ics.uci.edu/dataset/228/sms+spam+collection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" y="203453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" y="1988819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UCI Phishing Websites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" y="217627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archive.ics.uci.edu/dataset/327/phishing+websites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" y="246887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" y="2423160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Credit Card Fraud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" y="261061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Kaggle / ULB dataset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" y="290322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" y="2857500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PhishTank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" y="304495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phishtank.org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" y="333756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" y="3291840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LangGraph Documentation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" y="347929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langchain-ai.github.io/langgraph</a:t>
            </a:r>
          </a:p>
        </p:txBody>
      </p:sp>
      <p:sp>
        <p:nvSpPr>
          <p:cNvPr id="31" name="Oval 30"/>
          <p:cNvSpPr/>
          <p:nvPr/>
        </p:nvSpPr>
        <p:spPr>
          <a:xfrm>
            <a:off x="630936" y="377190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" y="3726180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Supabase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" y="391363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supabase.com/docs</a:t>
            </a:r>
          </a:p>
        </p:txBody>
      </p:sp>
      <p:sp>
        <p:nvSpPr>
          <p:cNvPr id="34" name="Oval 33"/>
          <p:cNvSpPr/>
          <p:nvPr/>
        </p:nvSpPr>
        <p:spPr>
          <a:xfrm>
            <a:off x="630936" y="420624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" y="4160520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Gemini API Documentation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" y="434797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ai.google.dev/gemini-api/docs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3007" y="1042415"/>
            <a:ext cx="5547207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3007" y="1042415"/>
            <a:ext cx="5547207" cy="5943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2463" y="1188719"/>
            <a:ext cx="5108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">
                <a:solidFill>
                  <a:srgbClr val="0A1B33"/>
                </a:solidFill>
                <a:latin typeface="Segoe UI"/>
              </a:rPr>
              <a:t>RESEARCH / SECURITY REFERENCES</a:t>
            </a:r>
          </a:p>
        </p:txBody>
      </p:sp>
      <p:sp>
        <p:nvSpPr>
          <p:cNvPr id="40" name="Oval 39"/>
          <p:cNvSpPr/>
          <p:nvPr/>
        </p:nvSpPr>
        <p:spPr>
          <a:xfrm>
            <a:off x="6452463" y="160020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17055" y="1554480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NIST Cybersecurity Guidance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7055" y="174193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nist.gov</a:t>
            </a:r>
          </a:p>
        </p:txBody>
      </p:sp>
      <p:sp>
        <p:nvSpPr>
          <p:cNvPr id="43" name="Oval 42"/>
          <p:cNvSpPr/>
          <p:nvPr/>
        </p:nvSpPr>
        <p:spPr>
          <a:xfrm>
            <a:off x="6452463" y="203453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7055" y="1988819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OWASP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7055" y="217627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owasp.org</a:t>
            </a:r>
          </a:p>
        </p:txBody>
      </p:sp>
      <p:sp>
        <p:nvSpPr>
          <p:cNvPr id="46" name="Oval 45"/>
          <p:cNvSpPr/>
          <p:nvPr/>
        </p:nvSpPr>
        <p:spPr>
          <a:xfrm>
            <a:off x="6452463" y="246887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17055" y="2423160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CERT-In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17055" y="261061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cert-in.org.in</a:t>
            </a:r>
          </a:p>
        </p:txBody>
      </p:sp>
      <p:sp>
        <p:nvSpPr>
          <p:cNvPr id="49" name="Oval 48"/>
          <p:cNvSpPr/>
          <p:nvPr/>
        </p:nvSpPr>
        <p:spPr>
          <a:xfrm>
            <a:off x="6452463" y="290322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17055" y="2857500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Govt. of India Cybercrime Awareness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7055" y="304495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cybercrime.gov.in</a:t>
            </a:r>
          </a:p>
        </p:txBody>
      </p:sp>
      <p:sp>
        <p:nvSpPr>
          <p:cNvPr id="52" name="Oval 51"/>
          <p:cNvSpPr/>
          <p:nvPr/>
        </p:nvSpPr>
        <p:spPr>
          <a:xfrm>
            <a:off x="6452463" y="333756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17055" y="3291840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Phishing Detection Research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7055" y="347929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Reference to be finalized</a:t>
            </a:r>
          </a:p>
        </p:txBody>
      </p:sp>
      <p:sp>
        <p:nvSpPr>
          <p:cNvPr id="55" name="Oval 54"/>
          <p:cNvSpPr/>
          <p:nvPr/>
        </p:nvSpPr>
        <p:spPr>
          <a:xfrm>
            <a:off x="6452463" y="377190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17055" y="3726180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SMS Spam Detection Research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17055" y="391363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Reference to be finalized</a:t>
            </a:r>
          </a:p>
        </p:txBody>
      </p:sp>
      <p:sp>
        <p:nvSpPr>
          <p:cNvPr id="58" name="Oval 57"/>
          <p:cNvSpPr/>
          <p:nvPr/>
        </p:nvSpPr>
        <p:spPr>
          <a:xfrm>
            <a:off x="6452463" y="420624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17055" y="4160520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Fraud Detection Research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17055" y="434797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Reference to be finalized</a:t>
            </a:r>
          </a:p>
        </p:txBody>
      </p:sp>
      <p:sp>
        <p:nvSpPr>
          <p:cNvPr id="61" name="Oval 60"/>
          <p:cNvSpPr/>
          <p:nvPr/>
        </p:nvSpPr>
        <p:spPr>
          <a:xfrm>
            <a:off x="6452463" y="464057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17055" y="4594859"/>
            <a:ext cx="4925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Explainable / Agentic AI Research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17055" y="4782312"/>
            <a:ext cx="49254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55647E"/>
                </a:solidFill>
                <a:latin typeface="Segoe UI"/>
              </a:rPr>
              <a:t>Reference to be finalized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1480" y="5449824"/>
            <a:ext cx="64008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7784" y="5422392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">
                <a:solidFill>
                  <a:srgbClr val="0A1B33"/>
                </a:solidFill>
                <a:latin typeface="Segoe UI"/>
              </a:rPr>
              <a:t>PROJECT LINKS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1480" y="5751576"/>
            <a:ext cx="3643274" cy="512064"/>
          </a:xfrm>
          <a:prstGeom prst="roundRect">
            <a:avLst>
              <a:gd name="adj" fmla="val 1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6072" y="5824728"/>
            <a:ext cx="33140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 spc="50">
                <a:solidFill>
                  <a:srgbClr val="CCFBF1"/>
                </a:solidFill>
                <a:latin typeface="Segoe UI"/>
              </a:rPr>
              <a:t>PROTOTYPE / DEMO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6072" y="6007608"/>
            <a:ext cx="331409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FFFFFF"/>
                </a:solidFill>
                <a:latin typeface="Segoe UI"/>
              </a:rPr>
              <a:t>[ADD WORKING PROTOTYPE LINK]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274210" y="5751576"/>
            <a:ext cx="3643274" cy="512064"/>
          </a:xfrm>
          <a:prstGeom prst="roundRect">
            <a:avLst>
              <a:gd name="adj" fmla="val 1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38802" y="5824728"/>
            <a:ext cx="33140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 spc="50">
                <a:solidFill>
                  <a:srgbClr val="CCFBF1"/>
                </a:solidFill>
                <a:latin typeface="Segoe UI"/>
              </a:rPr>
              <a:t>GITHUB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38802" y="6007608"/>
            <a:ext cx="331409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FFFFFF"/>
                </a:solidFill>
                <a:latin typeface="Segoe UI"/>
              </a:rPr>
              <a:t>[ADD GITHUB LINK]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36940" y="5751576"/>
            <a:ext cx="3643274" cy="512064"/>
          </a:xfrm>
          <a:prstGeom prst="roundRect">
            <a:avLst>
              <a:gd name="adj" fmla="val 1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01532" y="5824728"/>
            <a:ext cx="33140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 spc="50">
                <a:solidFill>
                  <a:srgbClr val="CCFBF1"/>
                </a:solidFill>
                <a:latin typeface="Segoe UI"/>
              </a:rPr>
              <a:t>DEMO VIDEO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01532" y="6007608"/>
            <a:ext cx="331409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FFFFFF"/>
                </a:solidFill>
                <a:latin typeface="Segoe UI"/>
              </a:rPr>
              <a:t>[ADD VIDEO LINK]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11480" y="6547104"/>
            <a:ext cx="11368735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reeform 75"/>
          <p:cNvSpPr/>
          <p:nvPr/>
        </p:nvSpPr>
        <p:spPr>
          <a:xfrm>
            <a:off x="411480" y="662940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0" y="14630"/>
                </a:moveTo>
                <a:lnTo>
                  <a:pt x="73152" y="0"/>
                </a:lnTo>
                <a:lnTo>
                  <a:pt x="146304" y="14630"/>
                </a:lnTo>
                <a:lnTo>
                  <a:pt x="146304" y="73152"/>
                </a:lnTo>
                <a:lnTo>
                  <a:pt x="73152" y="146304"/>
                </a:lnTo>
                <a:lnTo>
                  <a:pt x="0" y="73152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6652808"/>
            <a:ext cx="14630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" y="6601968"/>
            <a:ext cx="59436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647E"/>
                </a:solidFill>
                <a:latin typeface="Segoe UI"/>
              </a:rPr>
              <a:t>FRAUDSHIELD AI  ·  Detect · Investigate · Explain · Act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6601968"/>
            <a:ext cx="309067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5647E"/>
                </a:solidFill>
                <a:latin typeface="Segoe UI"/>
              </a:rPr>
              <a:t>Page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