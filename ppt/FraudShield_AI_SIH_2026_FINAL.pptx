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669280"/>
            <a:ext cx="4572000" cy="4572000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29569" y="223113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49025" y="223113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68481" y="223113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29569" y="44256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49025" y="44256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68481" y="442569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29569" y="66202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49025" y="66202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68481" y="662025"/>
            <a:ext cx="29260" cy="29260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744200" y="237744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63656" y="237744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44200" y="45720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63656" y="457200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44200" y="67665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63656" y="676656"/>
            <a:ext cx="219456" cy="0"/>
          </a:xfrm>
          <a:prstGeom prst="line">
            <a:avLst/>
          </a:prstGeom>
          <a:ln w="9525">
            <a:solidFill>
              <a:srgbClr val="2746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237744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240">
                <a:solidFill>
                  <a:srgbClr val="CCFBF1"/>
                </a:solidFill>
                <a:latin typeface="Segoe UI"/>
              </a:rPr>
              <a:t>SMART INDIA HACKATHON 2026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57439" y="972845"/>
            <a:ext cx="3696820" cy="860076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88136" y="681227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681227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818387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SMS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62031" y="1467650"/>
            <a:ext cx="3681278" cy="42823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88136" y="1202436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12024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@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3352" y="1339596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EMAIL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63624" y="1961388"/>
            <a:ext cx="3675888" cy="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88136" y="1723644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172364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3352" y="186080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URL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562031" y="2026895"/>
            <a:ext cx="3681278" cy="42823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88136" y="2244852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" y="22448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3352" y="2382012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PHONE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557439" y="2089854"/>
            <a:ext cx="3696820" cy="860076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88136" y="2766060"/>
            <a:ext cx="475488" cy="475488"/>
          </a:xfrm>
          <a:prstGeom prst="ellipse">
            <a:avLst/>
          </a:prstGeom>
          <a:solidFill>
            <a:srgbClr val="27466F"/>
          </a:solidFill>
          <a:ln w="12700">
            <a:solidFill>
              <a:srgbClr val="3B5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6" y="276606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73352" y="2903220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50">
                <a:solidFill>
                  <a:srgbClr val="DBEAFE"/>
                </a:solidFill>
                <a:latin typeface="Segoe UI"/>
              </a:rPr>
              <a:t>TRANSACTION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6362580" y="1153068"/>
            <a:ext cx="3527999" cy="69825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884664" y="781812"/>
            <a:ext cx="621792" cy="6217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431036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 spc="50">
                <a:solidFill>
                  <a:srgbClr val="FFFFFF"/>
                </a:solidFill>
                <a:latin typeface="Segoe UI"/>
              </a:rPr>
              <a:t>RISK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73368" y="1961388"/>
            <a:ext cx="3511296" cy="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884664" y="1650492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2299715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 spc="50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62580" y="2071457"/>
            <a:ext cx="3527999" cy="698250"/>
          </a:xfrm>
          <a:prstGeom prst="line">
            <a:avLst/>
          </a:prstGeom>
          <a:ln w="13970">
            <a:solidFill>
              <a:srgbClr val="2E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9884664" y="2519172"/>
            <a:ext cx="621792" cy="62179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3168395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 spc="5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51" name="Oval 50"/>
          <p:cNvSpPr/>
          <p:nvPr/>
        </p:nvSpPr>
        <p:spPr>
          <a:xfrm>
            <a:off x="5093207" y="1248156"/>
            <a:ext cx="1426464" cy="1426464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398251" y="1519184"/>
            <a:ext cx="816377" cy="816376"/>
          </a:xfrm>
          <a:custGeom>
            <a:avLst/>
            <a:gdLst/>
            <a:ahLst/>
            <a:cxnLst/>
            <a:rect l="l" t="t" r="r" b="b"/>
            <a:pathLst>
              <a:path w="816377" h="816376">
                <a:moveTo>
                  <a:pt x="0" y="81637"/>
                </a:moveTo>
                <a:lnTo>
                  <a:pt x="408189" y="0"/>
                </a:lnTo>
                <a:lnTo>
                  <a:pt x="816377" y="81637"/>
                </a:lnTo>
                <a:lnTo>
                  <a:pt x="816377" y="408188"/>
                </a:lnTo>
                <a:lnTo>
                  <a:pt x="408189" y="816376"/>
                </a:lnTo>
                <a:lnTo>
                  <a:pt x="0" y="40818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251" y="1649804"/>
            <a:ext cx="816376" cy="816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7477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 spc="80">
                <a:solidFill>
                  <a:srgbClr val="CCFBF1"/>
                </a:solidFill>
                <a:latin typeface="Segoe UI"/>
              </a:rPr>
              <a:t>AI FRAUD CORE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19" y="38404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20">
                <a:solidFill>
                  <a:srgbClr val="8592A8"/>
                </a:solidFill>
                <a:latin typeface="Segoe UI"/>
              </a:rPr>
              <a:t>SIGNALS 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384048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120">
                <a:solidFill>
                  <a:srgbClr val="8592A8"/>
                </a:solidFill>
                <a:latin typeface="Segoe UI"/>
              </a:rPr>
              <a:t>OUTCOMES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3383280"/>
            <a:ext cx="121916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spc="100">
                <a:solidFill>
                  <a:srgbClr val="FFFFFF"/>
                </a:solidFill>
                <a:latin typeface="Segoe UI"/>
              </a:rPr>
              <a:t>FRAUDSHIELD 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0" y="3968496"/>
            <a:ext cx="121916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1">
                <a:solidFill>
                  <a:srgbClr val="CCFBF1"/>
                </a:solidFill>
                <a:latin typeface="Segoe UI"/>
              </a:rPr>
              <a:t>“Detect. Investigate. Explain. Act.”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4343400"/>
            <a:ext cx="9082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DBEAFE"/>
                </a:solidFill>
                <a:latin typeface="Segoe UI"/>
              </a:rPr>
              <a:t>Agentic AI for Cyber-Fraud Detection &amp; Explainable Risk Assessment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791456"/>
            <a:ext cx="10728655" cy="932688"/>
          </a:xfrm>
          <a:prstGeom prst="roundRect">
            <a:avLst>
              <a:gd name="adj" fmla="val 9000"/>
            </a:avLst>
          </a:prstGeom>
          <a:solidFill>
            <a:srgbClr val="1C3A63"/>
          </a:solidFill>
          <a:ln w="9525">
            <a:solidFill>
              <a:srgbClr val="2C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4919472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PROBLEM STATEMENT 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5088636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[PROBLEM STATEMENT ID]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99178" y="4919472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PROBLEM STATEMENT TITLE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9178" y="5088636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[PROBLEM STATEMENT TITLE]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92516" y="4919472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THEME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92516" y="5088636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[THEME]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5303520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PS CATEGORY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5472683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Software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99178" y="5303520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TEAM 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99178" y="5472683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[TEAM ID]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92516" y="5303520"/>
            <a:ext cx="3301898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CCFBF1"/>
                </a:solidFill>
                <a:latin typeface="Segoe UI"/>
              </a:rPr>
              <a:t>TEAM NAME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2516" y="5472683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[TEAM NAME]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5888736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8592A8"/>
                </a:solidFill>
                <a:latin typeface="Segoe UI"/>
              </a:rPr>
              <a:t>Decision-support &amp; early-warning platform — not a replacement for banks, police or official cybercrime systems  ·  Prototype (SIH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4688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29260"/>
                </a:moveTo>
                <a:lnTo>
                  <a:pt x="146304" y="0"/>
                </a:lnTo>
                <a:lnTo>
                  <a:pt x="292608" y="29260"/>
                </a:lnTo>
                <a:lnTo>
                  <a:pt x="292608" y="146304"/>
                </a:lnTo>
                <a:lnTo>
                  <a:pt x="146304" y="292608"/>
                </a:lnTo>
                <a:lnTo>
                  <a:pt x="0" y="146304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370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"/>
            <a:ext cx="29260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3949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Why FraudShield Is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932688"/>
            <a:ext cx="5574639" cy="2395728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F3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3" y="1060704"/>
            <a:ext cx="52088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50">
                <a:solidFill>
                  <a:srgbClr val="991B1B"/>
                </a:solidFill>
                <a:latin typeface="Segoe UI"/>
              </a:rPr>
              <a:t>CURRENT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" y="1261872"/>
            <a:ext cx="52088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1">
                <a:solidFill>
                  <a:srgbClr val="8A3A3A"/>
                </a:solidFill>
                <a:latin typeface="Segoe UI"/>
              </a:rPr>
              <a:t>A suspicious message arrives — the user is on their own.</a:t>
            </a:r>
          </a:p>
        </p:txBody>
      </p:sp>
      <p:sp>
        <p:nvSpPr>
          <p:cNvPr id="18" name="Oval 17"/>
          <p:cNvSpPr/>
          <p:nvPr/>
        </p:nvSpPr>
        <p:spPr>
          <a:xfrm>
            <a:off x="2860471" y="2075688"/>
            <a:ext cx="621792" cy="6217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60471" y="207568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20" name="Oval 19"/>
          <p:cNvSpPr/>
          <p:nvPr/>
        </p:nvSpPr>
        <p:spPr>
          <a:xfrm>
            <a:off x="1754047" y="178308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4047" y="17830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5135" y="211226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Is it real?</a:t>
            </a:r>
          </a:p>
        </p:txBody>
      </p:sp>
      <p:sp>
        <p:nvSpPr>
          <p:cNvPr id="23" name="Oval 22"/>
          <p:cNvSpPr/>
          <p:nvPr/>
        </p:nvSpPr>
        <p:spPr>
          <a:xfrm>
            <a:off x="3994327" y="178308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4327" y="178308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5415" y="211226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Is this link safe?</a:t>
            </a:r>
          </a:p>
        </p:txBody>
      </p:sp>
      <p:sp>
        <p:nvSpPr>
          <p:cNvPr id="26" name="Oval 25"/>
          <p:cNvSpPr/>
          <p:nvPr/>
        </p:nvSpPr>
        <p:spPr>
          <a:xfrm>
            <a:off x="1754047" y="2752344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54047" y="27523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5135" y="308152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Should I pay?</a:t>
            </a:r>
          </a:p>
        </p:txBody>
      </p:sp>
      <p:sp>
        <p:nvSpPr>
          <p:cNvPr id="29" name="Oval 28"/>
          <p:cNvSpPr/>
          <p:nvPr/>
        </p:nvSpPr>
        <p:spPr>
          <a:xfrm>
            <a:off x="3994327" y="2752344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4327" y="27523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5415" y="308152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991B1B"/>
                </a:solidFill>
                <a:latin typeface="Segoe UI"/>
              </a:rPr>
              <a:t>What should I do?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007" y="932688"/>
            <a:ext cx="5574639" cy="2395728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9525">
            <a:solidFill>
              <a:srgbClr val="9F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2463" y="1060704"/>
            <a:ext cx="52088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50">
                <a:solidFill>
                  <a:srgbClr val="0F766E"/>
                </a:solidFill>
                <a:latin typeface="Segoe UI"/>
              </a:rPr>
              <a:t>FRAUDSHIELD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2463" y="1261872"/>
            <a:ext cx="52088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1">
                <a:solidFill>
                  <a:srgbClr val="0F766E"/>
                </a:solidFill>
                <a:latin typeface="Segoe UI"/>
              </a:rPr>
              <a:t>One input → multi-signal investigation → explainable outcome.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52463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SUSPICIOUS</a:t>
            </a:r>
          </a:p>
          <a:p>
            <a:pPr algn="ctr"/>
            <a:r>
              <a:rPr sz="760" b="1">
                <a:solidFill>
                  <a:srgbClr val="FFFFFF"/>
                </a:solidFill>
                <a:latin typeface="Segoe UI"/>
              </a:rPr>
              <a:t>INPUT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400970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01554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AI</a:t>
            </a:r>
          </a:p>
          <a:p>
            <a:pPr algn="ctr"/>
            <a:r>
              <a:rPr sz="760" b="1">
                <a:solidFill>
                  <a:srgbClr val="FFFFFF"/>
                </a:solidFill>
                <a:latin typeface="Segoe UI"/>
              </a:rPr>
              <a:t>INVESTIGATION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450061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50645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499152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99736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RISK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548244" y="1783079"/>
            <a:ext cx="91439" cy="10972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648828" y="1572768"/>
            <a:ext cx="939363" cy="530352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92000"/>
              </a:lnSpc>
            </a:pPr>
            <a:r>
              <a:rPr sz="76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71236" y="2121408"/>
            <a:ext cx="0" cy="164591"/>
          </a:xfrm>
          <a:prstGeom prst="line">
            <a:avLst/>
          </a:prstGeom>
          <a:ln w="12700">
            <a:solidFill>
              <a:srgbClr val="0F766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645356" y="2285999"/>
            <a:ext cx="132588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52648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788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Msg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7308296" y="2285999"/>
            <a:ext cx="66294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18942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082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URL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971236" y="2285999"/>
            <a:ext cx="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85236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2376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Txn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971236" y="2285999"/>
            <a:ext cx="66294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851530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8670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Pattern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71236" y="2285999"/>
            <a:ext cx="1325880" cy="91440"/>
          </a:xfrm>
          <a:prstGeom prst="line">
            <a:avLst/>
          </a:prstGeom>
          <a:ln w="10795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178244" y="2377439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49644" y="2633471"/>
            <a:ext cx="6949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0F766E"/>
                </a:solidFill>
                <a:latin typeface="Segoe UI"/>
              </a:rPr>
              <a:t>Intel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52463" y="2834639"/>
            <a:ext cx="5135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1">
                <a:solidFill>
                  <a:srgbClr val="0F766E"/>
                </a:solidFill>
                <a:latin typeface="Segoe UI"/>
              </a:rPr>
              <a:t>Agent dispatches only the tools this case needs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87187" y="19385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87187" y="193852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 spc="30">
                <a:solidFill>
                  <a:srgbClr val="FFFFFF"/>
                </a:solidFill>
                <a:latin typeface="Segoe UI"/>
              </a:rPr>
              <a:t>CONFUSION → CLARITY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4048" y="3557016"/>
            <a:ext cx="64008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3529584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WHAT MAKES THE AGENT DIFFERENT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4048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395945" y="4005072"/>
            <a:ext cx="694944" cy="694944"/>
          </a:xfrm>
          <a:prstGeom prst="ellipse">
            <a:avLst/>
          </a:prstGeom>
          <a:noFill/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469097" y="4078224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69097" y="40782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F172A"/>
                </a:solidFill>
                <a:latin typeface="Segoe UI"/>
              </a:rPr>
              <a:t>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" y="4773168"/>
            <a:ext cx="24992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50">
                <a:solidFill>
                  <a:srgbClr val="0A1B33"/>
                </a:solidFill>
                <a:latin typeface="Segoe UI"/>
              </a:rPr>
              <a:t>AGENTIC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352" y="5029200"/>
            <a:ext cx="24261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Dynamic tool selection per case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85667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431971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31971" y="4023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0F172A"/>
                </a:solidFill>
                <a:latin typeface="Segoe UI"/>
              </a:rPr>
              <a:t>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98899" y="4041648"/>
            <a:ext cx="18500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EXPLAINABLE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31971" y="4645152"/>
            <a:ext cx="24261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DBEAFE"/>
                </a:solidFill>
                <a:latin typeface="Segoe UI"/>
              </a:rPr>
              <a:t>Every score traces back to visible evidence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87287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461607" y="4114800"/>
            <a:ext cx="1085050" cy="0"/>
          </a:xfrm>
          <a:prstGeom prst="line">
            <a:avLst/>
          </a:prstGeom>
          <a:ln w="17780">
            <a:solidFill>
              <a:srgbClr val="D9770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46657" y="4114800"/>
            <a:ext cx="1085050" cy="0"/>
          </a:xfrm>
          <a:prstGeom prst="line">
            <a:avLst/>
          </a:prstGeom>
          <a:ln w="17780">
            <a:solidFill>
              <a:srgbClr val="D9770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6379311" y="403250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464361" y="403250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549411" y="403250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97015" y="4389120"/>
            <a:ext cx="24992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50">
                <a:solidFill>
                  <a:srgbClr val="0A1B33"/>
                </a:solidFill>
                <a:latin typeface="Segoe UI"/>
              </a:rPr>
              <a:t>ADAPTIVE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33591" y="4663440"/>
            <a:ext cx="24261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Investigation path adapts to each case, not a fixed script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88907" y="3840480"/>
            <a:ext cx="2718739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35211" y="3968496"/>
            <a:ext cx="24261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50">
                <a:solidFill>
                  <a:srgbClr val="0A1B33"/>
                </a:solidFill>
                <a:latin typeface="Segoe UI"/>
              </a:rPr>
              <a:t>ACTIONABLE</a:t>
            </a:r>
          </a:p>
        </p:txBody>
      </p:sp>
      <p:sp>
        <p:nvSpPr>
          <p:cNvPr id="86" name="Oval 85"/>
          <p:cNvSpPr/>
          <p:nvPr/>
        </p:nvSpPr>
        <p:spPr>
          <a:xfrm>
            <a:off x="9235211" y="429768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35211" y="42976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91243" y="4283964"/>
            <a:ext cx="217009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F172A"/>
                </a:solidFill>
                <a:latin typeface="Segoe UI"/>
              </a:rPr>
              <a:t>Do not click</a:t>
            </a:r>
          </a:p>
        </p:txBody>
      </p:sp>
      <p:sp>
        <p:nvSpPr>
          <p:cNvPr id="89" name="Oval 88"/>
          <p:cNvSpPr/>
          <p:nvPr/>
        </p:nvSpPr>
        <p:spPr>
          <a:xfrm>
            <a:off x="9235211" y="459028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35211" y="45902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91243" y="4576572"/>
            <a:ext cx="217009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F172A"/>
                </a:solidFill>
                <a:latin typeface="Segoe UI"/>
              </a:rPr>
              <a:t>Do not share OTP</a:t>
            </a:r>
          </a:p>
        </p:txBody>
      </p:sp>
      <p:sp>
        <p:nvSpPr>
          <p:cNvPr id="92" name="Oval 91"/>
          <p:cNvSpPr/>
          <p:nvPr/>
        </p:nvSpPr>
        <p:spPr>
          <a:xfrm>
            <a:off x="9235211" y="4882896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35211" y="488289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91243" y="4869180"/>
            <a:ext cx="217009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F172A"/>
                </a:solidFill>
                <a:latin typeface="Segoe UI"/>
              </a:rPr>
              <a:t>Verify officially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4048" y="5468112"/>
            <a:ext cx="11423599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4048" y="5468112"/>
            <a:ext cx="114235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1">
                <a:solidFill>
                  <a:srgbClr val="1D4ED8"/>
                </a:solidFill>
                <a:latin typeface="Segoe UI"/>
              </a:rPr>
              <a:t>Core innovation: the agent performs Dynamic Tool Selection instead of running a fixed pipeline.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Why is this more than a normal fraud classifier?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4688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29260"/>
                </a:moveTo>
                <a:lnTo>
                  <a:pt x="146304" y="0"/>
                </a:lnTo>
                <a:lnTo>
                  <a:pt x="292608" y="29260"/>
                </a:lnTo>
                <a:lnTo>
                  <a:pt x="292608" y="146304"/>
                </a:lnTo>
                <a:lnTo>
                  <a:pt x="146304" y="292608"/>
                </a:lnTo>
                <a:lnTo>
                  <a:pt x="0" y="146304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370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"/>
            <a:ext cx="29260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3949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TECHNICAL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Agentic System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" y="932688"/>
            <a:ext cx="0" cy="542239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37160" y="1106423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768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SMS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69615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15335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15335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@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98799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EMAIL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55183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00903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903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4367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URL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40751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86471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6471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9935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PHONE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26319" y="1042415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2039" y="1088136"/>
            <a:ext cx="237744" cy="237744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2039" y="10881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5503" y="1042415"/>
            <a:ext cx="11155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Segoe UI"/>
              </a:rPr>
              <a:t>TRANSACTION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859536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01  INPUT SIGNALS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24712" y="1371600"/>
            <a:ext cx="4971135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10279" y="1371600"/>
            <a:ext cx="2485568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095847" y="1371600"/>
            <a:ext cx="0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095847" y="1371600"/>
            <a:ext cx="2485568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095847" y="1371600"/>
            <a:ext cx="4971136" cy="41148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346039" y="1691639"/>
            <a:ext cx="1499616" cy="1499616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437479" y="1783080"/>
            <a:ext cx="1316736" cy="13167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37479" y="1883664"/>
            <a:ext cx="1316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FRAUD INVESTIGATION
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0631" y="2441448"/>
            <a:ext cx="1170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0" i="0">
                <a:solidFill>
                  <a:srgbClr val="CCFBF1"/>
                </a:solidFill>
                <a:latin typeface="Segoe UI"/>
              </a:rPr>
              <a:t>Understand · Plan · Select Tools ·
Investigate · Fuse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0631" y="2916935"/>
            <a:ext cx="11704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0" i="1">
                <a:solidFill>
                  <a:srgbClr val="FFFFFF"/>
                </a:solidFill>
                <a:latin typeface="Segoe UI"/>
              </a:rPr>
              <a:t>LangGraph + Gemini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1508760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02  ORCHESTRATOR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107232" y="2581202"/>
            <a:ext cx="4345251" cy="943892"/>
          </a:xfrm>
          <a:prstGeom prst="line">
            <a:avLst/>
          </a:prstGeom>
          <a:ln w="190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84048" y="3236975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Message
Analyzer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3758296" y="2703786"/>
            <a:ext cx="1733708" cy="753206"/>
          </a:xfrm>
          <a:prstGeom prst="line">
            <a:avLst/>
          </a:prstGeom>
          <a:ln w="190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057067" y="3236975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9364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URL
Analyzer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95847" y="3099815"/>
            <a:ext cx="0" cy="137160"/>
          </a:xfrm>
          <a:prstGeom prst="line">
            <a:avLst/>
          </a:prstGeom>
          <a:ln w="1905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730087" y="3236975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666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FFFFFF"/>
                </a:solidFill>
                <a:latin typeface="Segoe UI"/>
              </a:rPr>
              <a:t>Transaction
Analyzer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99691" y="2703786"/>
            <a:ext cx="1733707" cy="753206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403107" y="3236975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968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0A1B33"/>
                </a:solidFill>
                <a:latin typeface="Segoe UI"/>
              </a:rPr>
              <a:t>Scam Pattern
Search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39211" y="2581202"/>
            <a:ext cx="4345251" cy="943892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1076127" y="3236975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12703" y="3236975"/>
            <a:ext cx="6583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30" b="1" i="0">
                <a:solidFill>
                  <a:srgbClr val="0A1B33"/>
                </a:solidFill>
                <a:latin typeface="Segoe UI"/>
              </a:rPr>
              <a:t>Threat
Intelligence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" y="2962656"/>
            <a:ext cx="5212080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4048" y="2980944"/>
            <a:ext cx="5212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60">
                <a:solidFill>
                  <a:srgbClr val="8592A8"/>
                </a:solidFill>
                <a:latin typeface="Segoe UI"/>
              </a:rPr>
              <a:t>03  TOOL ECOSYSTEM — agent decides which tools to invoke</a:t>
            </a:r>
          </a:p>
        </p:txBody>
      </p:sp>
      <p:sp>
        <p:nvSpPr>
          <p:cNvPr id="66" name="Oval 65"/>
          <p:cNvSpPr/>
          <p:nvPr/>
        </p:nvSpPr>
        <p:spPr>
          <a:xfrm>
            <a:off x="9018727" y="3017519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74175" y="2980943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>
                <a:solidFill>
                  <a:srgbClr val="1D4ED8"/>
                </a:solidFill>
                <a:latin typeface="Segoe UI"/>
              </a:rPr>
              <a:t>SMS + URL case</a:t>
            </a:r>
          </a:p>
        </p:txBody>
      </p:sp>
      <p:sp>
        <p:nvSpPr>
          <p:cNvPr id="68" name="Oval 67"/>
          <p:cNvSpPr/>
          <p:nvPr/>
        </p:nvSpPr>
        <p:spPr>
          <a:xfrm>
            <a:off x="10573207" y="3017519"/>
            <a:ext cx="100584" cy="1005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28655" y="2980943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 i="0">
                <a:solidFill>
                  <a:srgbClr val="0F766E"/>
                </a:solidFill>
                <a:latin typeface="Segoe UI"/>
              </a:rPr>
              <a:t>Transaction case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11674" y="3655965"/>
            <a:ext cx="4676587" cy="687910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773718" y="3705965"/>
            <a:ext cx="2023872" cy="595409"/>
          </a:xfrm>
          <a:prstGeom prst="line">
            <a:avLst/>
          </a:prstGeom>
          <a:ln w="1651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095847" y="3968496"/>
            <a:ext cx="0" cy="109728"/>
          </a:xfrm>
          <a:prstGeom prst="line">
            <a:avLst/>
          </a:prstGeom>
          <a:ln w="1651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6394104" y="3705965"/>
            <a:ext cx="2023873" cy="595409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6403433" y="3655965"/>
            <a:ext cx="4676588" cy="687910"/>
          </a:xfrm>
          <a:prstGeom prst="line">
            <a:avLst/>
          </a:prstGeom>
          <a:ln w="1079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5784951" y="4078224"/>
            <a:ext cx="621792" cy="621792"/>
          </a:xfrm>
          <a:prstGeom prst="ellipse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84951" y="4078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07127" y="4736592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 spc="40">
                <a:solidFill>
                  <a:srgbClr val="0A1B33"/>
                </a:solidFill>
                <a:latin typeface="Segoe UI"/>
              </a:rPr>
              <a:t>EVIDENCE FUSION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" y="4306824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04  FUSE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095847" y="4919472"/>
            <a:ext cx="0" cy="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3535527" y="4937759"/>
            <a:ext cx="1706879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242407" y="4937759"/>
            <a:ext cx="1706879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949287" y="4937759"/>
            <a:ext cx="1706879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35527" y="5239512"/>
            <a:ext cx="17068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50">
                <a:solidFill>
                  <a:srgbClr val="55647E"/>
                </a:solidFill>
                <a:latin typeface="Segoe UI"/>
              </a:rPr>
              <a:t>LOW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42407" y="5239512"/>
            <a:ext cx="17068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50">
                <a:solidFill>
                  <a:srgbClr val="55647E"/>
                </a:solidFill>
                <a:latin typeface="Segoe UI"/>
              </a:rPr>
              <a:t>MEDIUM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49287" y="5239512"/>
            <a:ext cx="17068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50">
                <a:solidFill>
                  <a:srgbClr val="55647E"/>
                </a:solidFill>
                <a:latin typeface="Segoe UI"/>
              </a:rPr>
              <a:t>HIGH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15287" y="491947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ML + RULES
+ EVIDENCE  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93327" y="4919472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A1B33"/>
                </a:solidFill>
                <a:latin typeface="Segoe UI"/>
              </a:rPr>
              <a:t>EXPLAINABLE
RISK SCORE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4048" y="4754879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05  SCORE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4048" y="550468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4048" y="550468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096" y="550468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Segoe UI"/>
              </a:rPr>
              <a:t>EXPLAIN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998567" y="550468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98567" y="550468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82615" y="550468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Segoe UI"/>
              </a:rPr>
              <a:t>RECOMMEND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613087" y="550468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13087" y="5504688"/>
            <a:ext cx="4572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97135" y="5504688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D4ED8"/>
                </a:solidFill>
                <a:latin typeface="Segoe UI"/>
              </a:rPr>
              <a:t>REVIEW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4048" y="5321807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06  DECIDE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84048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84048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Supabase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80560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0560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Cases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22716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2716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Alerts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64872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64872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Analytics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070287" y="6035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070287" y="6035040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Segoe UI"/>
              </a:rPr>
              <a:t>Feedback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4048" y="5852159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80">
                <a:solidFill>
                  <a:srgbClr val="8592A8"/>
                </a:solidFill>
                <a:latin typeface="Segoe UI"/>
              </a:rPr>
              <a:t>07  STORE &amp; TRACK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This is what makes it an agentic system.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4688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29260"/>
                </a:moveTo>
                <a:lnTo>
                  <a:pt x="146304" y="0"/>
                </a:lnTo>
                <a:lnTo>
                  <a:pt x="292608" y="29260"/>
                </a:lnTo>
                <a:lnTo>
                  <a:pt x="292608" y="146304"/>
                </a:lnTo>
                <a:lnTo>
                  <a:pt x="146304" y="292608"/>
                </a:lnTo>
                <a:lnTo>
                  <a:pt x="0" y="146304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370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"/>
            <a:ext cx="29260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3949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Build → Validate →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5" name="Pentagon 14"/>
          <p:cNvSpPr/>
          <p:nvPr/>
        </p:nvSpPr>
        <p:spPr>
          <a:xfrm>
            <a:off x="384048" y="914400"/>
            <a:ext cx="3600602" cy="1737360"/>
          </a:xfrm>
          <a:prstGeom prst="homePlate">
            <a:avLst/>
          </a:prstGeom>
          <a:solidFill>
            <a:srgbClr val="27466F"/>
          </a:solidFill>
          <a:ln>
            <a:noFill/>
          </a:ln>
          <a:effectLst>
            <a:outerShdw blurRad="127000" dist="2794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097280"/>
            <a:ext cx="23763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5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1389888"/>
            <a:ext cx="23763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spc="60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810512"/>
            <a:ext cx="23763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FFFFFF"/>
                </a:solidFill>
                <a:latin typeface="Segoe UI"/>
              </a:rPr>
              <a:t>React · Supabase · LangGraph ·
Gemini · Scikit-learn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12082" y="1697492"/>
            <a:ext cx="219456" cy="171175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entagon 19"/>
          <p:cNvSpPr/>
          <p:nvPr/>
        </p:nvSpPr>
        <p:spPr>
          <a:xfrm>
            <a:off x="4295546" y="914400"/>
            <a:ext cx="3600602" cy="1737360"/>
          </a:xfrm>
          <a:prstGeom prst="homePlate">
            <a:avLst/>
          </a:prstGeom>
          <a:solidFill>
            <a:srgbClr val="0D9488"/>
          </a:solidFill>
          <a:ln>
            <a:noFill/>
          </a:ln>
          <a:effectLst>
            <a:outerShdw blurRad="127000" dist="2794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6714" y="1097280"/>
            <a:ext cx="23763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5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6714" y="1389888"/>
            <a:ext cx="23763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spc="60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6714" y="1810512"/>
            <a:ext cx="23763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FFFFFF"/>
                </a:solidFill>
                <a:latin typeface="Segoe UI"/>
              </a:rPr>
              <a:t>Datasets · Model Evaluation ·
Human Review · Feedback Loop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23580" y="1697492"/>
            <a:ext cx="219456" cy="171175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entagon 24"/>
          <p:cNvSpPr/>
          <p:nvPr/>
        </p:nvSpPr>
        <p:spPr>
          <a:xfrm>
            <a:off x="8207044" y="914400"/>
            <a:ext cx="3600602" cy="1737360"/>
          </a:xfrm>
          <a:prstGeom prst="homePlate">
            <a:avLst/>
          </a:prstGeom>
          <a:solidFill>
            <a:srgbClr val="2563EB"/>
          </a:solidFill>
          <a:ln>
            <a:noFill/>
          </a:ln>
          <a:effectLst>
            <a:outerShdw blurRad="127000" dist="2794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8212" y="1097280"/>
            <a:ext cx="23763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5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8212" y="1389888"/>
            <a:ext cx="23763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spc="60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8212" y="1810512"/>
            <a:ext cx="23763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FFFFFF"/>
                </a:solidFill>
                <a:latin typeface="Segoe UI"/>
              </a:rPr>
              <a:t>Threat Intel · More Fraud Types ·
More Tools · Cloud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898647"/>
            <a:ext cx="64008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871215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CHALLENGE → MITIGATION CONTROL MAP</a:t>
            </a:r>
          </a:p>
        </p:txBody>
      </p:sp>
      <p:sp>
        <p:nvSpPr>
          <p:cNvPr id="31" name="Oval 30"/>
          <p:cNvSpPr/>
          <p:nvPr/>
        </p:nvSpPr>
        <p:spPr>
          <a:xfrm>
            <a:off x="384048" y="3255263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2552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227832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False positives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711799" y="3304824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41567" y="3255263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1567" y="32552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7" y="3227832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Human review + feedback loop + threshold tuning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4048" y="3584447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84048" y="3657599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65759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630168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AI hallucination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711799" y="3707160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41567" y="3657599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1567" y="3657599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7327" y="3630168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LLM explains structured evidence — never invents it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84048" y="3986783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84048" y="4059935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05993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4032503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Threat-intel limitations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711799" y="4109496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41567" y="4059935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1567" y="4059935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07327" y="4032503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Fallback local analysis + configurable adapters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84048" y="4389120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84048" y="4462272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44622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4434840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API / rate limits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711799" y="4511832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41567" y="4462272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41567" y="446227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7327" y="4434840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Caching + graceful fallback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84048" y="4791455"/>
            <a:ext cx="11423599" cy="0"/>
          </a:xfrm>
          <a:prstGeom prst="line">
            <a:avLst/>
          </a:prstGeom>
          <a:ln w="762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84048" y="4864607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" y="486460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!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4837175"/>
            <a:ext cx="4888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0F172A"/>
                </a:solidFill>
                <a:latin typeface="Segoe UI"/>
              </a:rPr>
              <a:t>Sensitive user data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5711799" y="4914168"/>
            <a:ext cx="201168" cy="156911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141567" y="4864607"/>
            <a:ext cx="256032" cy="25603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41567" y="486460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07327" y="4837175"/>
            <a:ext cx="52545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F172A"/>
                </a:solidFill>
                <a:latin typeface="Segoe UI"/>
              </a:rPr>
              <a:t>Auth + access control + minimal collection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4048" y="5404104"/>
            <a:ext cx="64008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537667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WHY IT IS BUILDABLE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48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57200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Open-source ML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94371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767523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67523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60131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Serverless backend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04694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077846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77846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70454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Modular agent tools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315017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388169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88169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80777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Free-tier prototype stack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625340" y="5669280"/>
            <a:ext cx="2182307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698492" y="57424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8492" y="5742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91100" y="5669280"/>
            <a:ext cx="1743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1" i="0">
                <a:solidFill>
                  <a:srgbClr val="0F5A28"/>
                </a:solidFill>
                <a:latin typeface="Segoe UI"/>
              </a:rPr>
              <a:t>Incremental deployment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reeform 92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Yes — with a clear build path and risk controls.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4688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29260"/>
                </a:moveTo>
                <a:lnTo>
                  <a:pt x="146304" y="0"/>
                </a:lnTo>
                <a:lnTo>
                  <a:pt x="292608" y="29260"/>
                </a:lnTo>
                <a:lnTo>
                  <a:pt x="292608" y="146304"/>
                </a:lnTo>
                <a:lnTo>
                  <a:pt x="146304" y="292608"/>
                </a:lnTo>
                <a:lnTo>
                  <a:pt x="0" y="146304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370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"/>
            <a:ext cx="29260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3949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IMPACT AND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Who It Serves &amp; What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5" name="Oval 14"/>
          <p:cNvSpPr/>
          <p:nvPr/>
        </p:nvSpPr>
        <p:spPr>
          <a:xfrm>
            <a:off x="5684367" y="1783080"/>
            <a:ext cx="822959" cy="822959"/>
          </a:xfrm>
          <a:prstGeom prst="ellipse">
            <a:avLst/>
          </a:prstGeom>
          <a:solidFill>
            <a:srgbClr val="1C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858835" y="1931212"/>
            <a:ext cx="474025" cy="474025"/>
          </a:xfrm>
          <a:custGeom>
            <a:avLst/>
            <a:gdLst/>
            <a:ahLst/>
            <a:cxnLst/>
            <a:rect l="l" t="t" r="r" b="b"/>
            <a:pathLst>
              <a:path w="474025" h="474025">
                <a:moveTo>
                  <a:pt x="0" y="47403"/>
                </a:moveTo>
                <a:lnTo>
                  <a:pt x="237012" y="0"/>
                </a:lnTo>
                <a:lnTo>
                  <a:pt x="474025" y="47403"/>
                </a:lnTo>
                <a:lnTo>
                  <a:pt x="474025" y="237013"/>
                </a:lnTo>
                <a:lnTo>
                  <a:pt x="237012" y="474025"/>
                </a:lnTo>
                <a:lnTo>
                  <a:pt x="0" y="23701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8835" y="2007056"/>
            <a:ext cx="474024" cy="474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2569463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40">
                <a:solidFill>
                  <a:srgbClr val="0A1B33"/>
                </a:solidFill>
                <a:latin typeface="Segoe UI"/>
              </a:rPr>
              <a:t>FRAUDSHIELD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1387" y="914400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1387" y="914400"/>
            <a:ext cx="50292" cy="804672"/>
          </a:xfrm>
          <a:prstGeom prst="rect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29403" y="1042416"/>
            <a:ext cx="310896" cy="310896"/>
          </a:xfrm>
          <a:prstGeom prst="ellipse">
            <a:avLst/>
          </a:pr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9403" y="10424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3451" y="10058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INDIVIDUAL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5979" y="1408176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10233E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Faster clarity on suspicious content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10233E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Clear protective guidance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95847" y="1719072"/>
            <a:ext cx="0" cy="146304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1387" y="2670048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1387" y="2670048"/>
            <a:ext cx="50292" cy="804672"/>
          </a:xfrm>
          <a:prstGeom prst="rect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29403" y="2798064"/>
            <a:ext cx="310896" cy="310896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9403" y="27980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3451" y="2761488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ENTERPRISES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5979" y="3163824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7466F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Reduced manual screening effort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7466F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Centralized case history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5847" y="2523744"/>
            <a:ext cx="0" cy="146304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1208" y="1792224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1208" y="1792224"/>
            <a:ext cx="50292" cy="80467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9224" y="192024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19202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" y="1883664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CYBERSECURITY TEAMS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286000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0D9488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Evidence-based investigation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0D9488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Tool execution trace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310128" y="2194560"/>
            <a:ext cx="2456535" cy="0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881567" y="1792224"/>
            <a:ext cx="278892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81567" y="1792224"/>
            <a:ext cx="50292" cy="8046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09583" y="192024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9583" y="19202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3631" y="1883664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" b="1" i="0">
                <a:solidFill>
                  <a:srgbClr val="0A1B33"/>
                </a:solidFill>
                <a:latin typeface="Segoe UI"/>
              </a:rPr>
              <a:t>FINANCIAL / SERVICE
ORGANIZATIONS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6159" y="2286000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563EB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Structured fraud investigation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740" b="1">
                <a:solidFill>
                  <a:srgbClr val="2563EB"/>
                </a:solidFill>
                <a:latin typeface="Segoe UI"/>
              </a:rPr>
              <a:t>•  </a:t>
            </a:r>
            <a:r>
              <a:rPr sz="740">
                <a:solidFill>
                  <a:srgbClr val="0F172A"/>
                </a:solidFill>
                <a:latin typeface="Segoe UI"/>
              </a:rPr>
              <a:t>Explainable risk signals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25031" y="2194560"/>
            <a:ext cx="2456536" cy="0"/>
          </a:xfrm>
          <a:prstGeom prst="line">
            <a:avLst/>
          </a:prstGeom>
          <a:ln w="1397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4048" y="3493008"/>
            <a:ext cx="1142359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55647E"/>
                </a:solidFill>
                <a:latin typeface="Segoe UI"/>
              </a:rPr>
              <a:t>A decision-support &amp; early-warning platform — not a replacement for banks, police or official cybercrime systems.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" y="3675887"/>
            <a:ext cx="2880360" cy="2103120"/>
          </a:xfrm>
          <a:prstGeom prst="roundRect">
            <a:avLst>
              <a:gd name="adj" fmla="val 7000"/>
            </a:avLst>
          </a:prstGeom>
          <a:solidFill>
            <a:srgbClr val="FEE2E2"/>
          </a:solidFill>
          <a:ln w="9525">
            <a:solidFill>
              <a:srgbClr val="F3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785615"/>
            <a:ext cx="25511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 spc="30">
                <a:solidFill>
                  <a:srgbClr val="991B1B"/>
                </a:solidFill>
                <a:latin typeface="Segoe UI"/>
              </a:rPr>
              <a:t>BEFORE FRAUDSHIELD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" y="4041648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" y="4041648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Suspicious message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1764792" y="4311396"/>
            <a:ext cx="118872" cy="914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85216" y="4402836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" y="4402836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Confusion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1764792" y="4672583"/>
            <a:ext cx="118872" cy="914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85216" y="4764023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" y="4764023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Delayed response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764792" y="5033771"/>
            <a:ext cx="118872" cy="9144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85216" y="5125211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" y="5125211"/>
            <a:ext cx="2478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991B1B"/>
                </a:solidFill>
                <a:latin typeface="Segoe UI"/>
              </a:rPr>
              <a:t>Potential exposure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502152" y="3675887"/>
            <a:ext cx="8305495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502152" y="3675887"/>
            <a:ext cx="8305495" cy="365760"/>
          </a:xfrm>
          <a:prstGeom prst="roundRect">
            <a:avLst>
              <a:gd name="adj" fmla="val 7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02152" y="3858768"/>
            <a:ext cx="8305495" cy="18288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66744" y="3675887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CASE #FS-1024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0952" y="3675887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1">
                <a:solidFill>
                  <a:srgbClr val="DBEAFE"/>
                </a:solidFill>
                <a:latin typeface="Segoe UI"/>
              </a:rPr>
              <a:t>Input: Suspicious SMS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70287" y="3758183"/>
            <a:ext cx="1572768" cy="2011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70287" y="3758183"/>
            <a:ext cx="15727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FFFFFF"/>
                </a:solidFill>
                <a:latin typeface="Segoe UI"/>
              </a:rPr>
              <a:t>SAMPLE · ILLUSTRATIVE UI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66744" y="4133087"/>
            <a:ext cx="31393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40">
                <a:solidFill>
                  <a:srgbClr val="0A1B33"/>
                </a:solidFill>
                <a:latin typeface="Segoe UI"/>
              </a:rPr>
              <a:t>AI INVESTIGATION</a:t>
            </a:r>
          </a:p>
        </p:txBody>
      </p:sp>
      <p:sp>
        <p:nvSpPr>
          <p:cNvPr id="69" name="Oval 68"/>
          <p:cNvSpPr/>
          <p:nvPr/>
        </p:nvSpPr>
        <p:spPr>
          <a:xfrm>
            <a:off x="3666744" y="4370831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66744" y="4357116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67912" y="4325112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Input classified</a:t>
            </a:r>
          </a:p>
        </p:txBody>
      </p:sp>
      <p:sp>
        <p:nvSpPr>
          <p:cNvPr id="72" name="Oval 71"/>
          <p:cNvSpPr/>
          <p:nvPr/>
        </p:nvSpPr>
        <p:spPr>
          <a:xfrm>
            <a:off x="3666744" y="4585716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66744" y="4572000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67912" y="4539996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URL extracted</a:t>
            </a:r>
          </a:p>
        </p:txBody>
      </p:sp>
      <p:sp>
        <p:nvSpPr>
          <p:cNvPr id="75" name="Oval 74"/>
          <p:cNvSpPr/>
          <p:nvPr/>
        </p:nvSpPr>
        <p:spPr>
          <a:xfrm>
            <a:off x="3666744" y="4800599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66744" y="4786883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67912" y="4754879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Message analyzed</a:t>
            </a:r>
          </a:p>
        </p:txBody>
      </p:sp>
      <p:sp>
        <p:nvSpPr>
          <p:cNvPr id="78" name="Oval 77"/>
          <p:cNvSpPr/>
          <p:nvPr/>
        </p:nvSpPr>
        <p:spPr>
          <a:xfrm>
            <a:off x="3666744" y="5015483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66744" y="5001768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7912" y="4969764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URL analyzed</a:t>
            </a:r>
          </a:p>
        </p:txBody>
      </p:sp>
      <p:sp>
        <p:nvSpPr>
          <p:cNvPr id="81" name="Oval 80"/>
          <p:cNvSpPr/>
          <p:nvPr/>
        </p:nvSpPr>
        <p:spPr>
          <a:xfrm>
            <a:off x="3666744" y="5230367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66744" y="5216651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67912" y="5184647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Scam pattern matched</a:t>
            </a:r>
          </a:p>
        </p:txBody>
      </p:sp>
      <p:sp>
        <p:nvSpPr>
          <p:cNvPr id="84" name="Oval 83"/>
          <p:cNvSpPr/>
          <p:nvPr/>
        </p:nvSpPr>
        <p:spPr>
          <a:xfrm>
            <a:off x="3666744" y="5445251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66744" y="5431536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67912" y="5399531"/>
            <a:ext cx="28649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172A"/>
                </a:solidFill>
                <a:latin typeface="Segoe UI"/>
              </a:rPr>
              <a:t>Evidence fused</a:t>
            </a:r>
          </a:p>
        </p:txBody>
      </p:sp>
      <p:sp>
        <p:nvSpPr>
          <p:cNvPr id="87" name="Oval 86"/>
          <p:cNvSpPr/>
          <p:nvPr/>
        </p:nvSpPr>
        <p:spPr>
          <a:xfrm>
            <a:off x="7432389" y="4224527"/>
            <a:ext cx="960120" cy="9601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32389" y="4352544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94%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32389" y="4700016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0" spc="40">
                <a:solidFill>
                  <a:srgbClr val="FFFFFF"/>
                </a:solidFill>
                <a:latin typeface="Segoe UI"/>
              </a:rPr>
              <a:t>HIGH RISK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15790" y="5239512"/>
            <a:ext cx="19933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 spc="50">
                <a:solidFill>
                  <a:srgbClr val="8592A8"/>
                </a:solidFill>
                <a:latin typeface="Segoe UI"/>
              </a:rPr>
              <a:t>RISK SCORE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7124" y="4133087"/>
            <a:ext cx="26242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40">
                <a:solidFill>
                  <a:srgbClr val="0A1B33"/>
                </a:solidFill>
                <a:latin typeface="Segoe UI"/>
              </a:rPr>
              <a:t>WHY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037124" y="4343400"/>
            <a:ext cx="2624218" cy="1737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37124" y="4343400"/>
            <a:ext cx="262421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991B1B"/>
                </a:solidFill>
                <a:latin typeface="Segoe UI"/>
              </a:rPr>
              <a:t>Suspicious URL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37124" y="4549140"/>
            <a:ext cx="2624218" cy="1737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37124" y="4549140"/>
            <a:ext cx="262421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991B1B"/>
                </a:solidFill>
                <a:latin typeface="Segoe UI"/>
              </a:rPr>
              <a:t>Urgency language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037124" y="4754880"/>
            <a:ext cx="2624218" cy="17373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37124" y="4754880"/>
            <a:ext cx="262421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991B1B"/>
                </a:solidFill>
                <a:latin typeface="Segoe UI"/>
              </a:rPr>
              <a:t>Financial request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7124" y="4974336"/>
            <a:ext cx="262421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 spc="40">
                <a:solidFill>
                  <a:srgbClr val="0A1B33"/>
                </a:solidFill>
                <a:latin typeface="Segoe UI"/>
              </a:rPr>
              <a:t>ACTION</a:t>
            </a:r>
          </a:p>
        </p:txBody>
      </p:sp>
      <p:sp>
        <p:nvSpPr>
          <p:cNvPr id="99" name="Oval 98"/>
          <p:cNvSpPr/>
          <p:nvPr/>
        </p:nvSpPr>
        <p:spPr>
          <a:xfrm>
            <a:off x="9037124" y="5184648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37124" y="5166360"/>
            <a:ext cx="128016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20004" y="5138928"/>
            <a:ext cx="24413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0F172A"/>
                </a:solidFill>
                <a:latin typeface="Segoe UI"/>
              </a:rPr>
              <a:t>Do not click</a:t>
            </a:r>
          </a:p>
        </p:txBody>
      </p:sp>
      <p:sp>
        <p:nvSpPr>
          <p:cNvPr id="102" name="Oval 101"/>
          <p:cNvSpPr/>
          <p:nvPr/>
        </p:nvSpPr>
        <p:spPr>
          <a:xfrm>
            <a:off x="9037124" y="537210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37124" y="5353812"/>
            <a:ext cx="128016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20004" y="5326380"/>
            <a:ext cx="24413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0F172A"/>
                </a:solidFill>
                <a:latin typeface="Segoe UI"/>
              </a:rPr>
              <a:t>Do not share OTP</a:t>
            </a:r>
          </a:p>
        </p:txBody>
      </p:sp>
      <p:sp>
        <p:nvSpPr>
          <p:cNvPr id="105" name="Oval 104"/>
          <p:cNvSpPr/>
          <p:nvPr/>
        </p:nvSpPr>
        <p:spPr>
          <a:xfrm>
            <a:off x="9037124" y="5559552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37124" y="5541264"/>
            <a:ext cx="128016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220004" y="5513832"/>
            <a:ext cx="24413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0F172A"/>
                </a:solidFill>
                <a:latin typeface="Segoe UI"/>
              </a:rPr>
              <a:t>Verify officially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84048" y="5943599"/>
            <a:ext cx="367375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93776" y="6099047"/>
            <a:ext cx="219456" cy="21945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04672" y="5998463"/>
            <a:ext cx="312511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40">
                <a:solidFill>
                  <a:srgbClr val="16A34A"/>
                </a:solidFill>
                <a:latin typeface="Segoe UI"/>
              </a:rPr>
              <a:t>SOCIAL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4672" y="6181343"/>
            <a:ext cx="31251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5647E"/>
                </a:solidFill>
                <a:latin typeface="Segoe UI"/>
              </a:rPr>
              <a:t>Digital safety awareness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258970" y="5943599"/>
            <a:ext cx="367375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368698" y="6099047"/>
            <a:ext cx="219456" cy="219456"/>
          </a:xfrm>
          <a:prstGeom prst="ellipse">
            <a:avLst/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79594" y="5998463"/>
            <a:ext cx="312511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40">
                <a:solidFill>
                  <a:srgbClr val="27466F"/>
                </a:solidFill>
                <a:latin typeface="Segoe UI"/>
              </a:rPr>
              <a:t>SECURITY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79594" y="6181343"/>
            <a:ext cx="31251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5647E"/>
                </a:solidFill>
                <a:latin typeface="Segoe UI"/>
              </a:rPr>
              <a:t>Evidence-based investigation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133892" y="5943599"/>
            <a:ext cx="367375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243620" y="6099047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54516" y="5998463"/>
            <a:ext cx="312511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 spc="40">
                <a:solidFill>
                  <a:srgbClr val="2563EB"/>
                </a:solidFill>
                <a:latin typeface="Segoe UI"/>
              </a:rPr>
              <a:t>ECONOMIC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54516" y="6181343"/>
            <a:ext cx="31251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55647E"/>
                </a:solidFill>
                <a:latin typeface="Segoe UI"/>
              </a:rPr>
              <a:t>Reduced avoidable exposure; streamlined initial screening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This solves a real user problem.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4048" y="24688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0" y="29260"/>
                </a:moveTo>
                <a:lnTo>
                  <a:pt x="146304" y="0"/>
                </a:lnTo>
                <a:lnTo>
                  <a:pt x="292608" y="29260"/>
                </a:lnTo>
                <a:lnTo>
                  <a:pt x="292608" y="146304"/>
                </a:lnTo>
                <a:lnTo>
                  <a:pt x="146304" y="292608"/>
                </a:lnTo>
                <a:lnTo>
                  <a:pt x="0" y="146304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370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"/>
            <a:ext cx="29260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FFFFFF"/>
                </a:solidFill>
                <a:latin typeface="Segoe UI"/>
              </a:rPr>
              <a:t>FRAUDSHIELD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53949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CFBF1"/>
                </a:solidFill>
                <a:latin typeface="Segoe UI"/>
              </a:rPr>
              <a:t>AI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23774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37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18872"/>
            <a:ext cx="6035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 spc="40">
                <a:solidFill>
                  <a:srgbClr val="FFFFFF"/>
                </a:solidFill>
                <a:latin typeface="Segoe UI"/>
              </a:rPr>
              <a:t>RESEARCH AND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84632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Evidence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28016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40">
                <a:solidFill>
                  <a:srgbClr val="CCFBF1"/>
                </a:solidFill>
                <a:latin typeface="Segoe UI"/>
              </a:rPr>
              <a:t>SMART INDIA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38328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2026  · 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932688"/>
            <a:ext cx="3661562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932688"/>
            <a:ext cx="366156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115214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1521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1225296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60">
                <a:solidFill>
                  <a:srgbClr val="0A1B33"/>
                </a:solidFill>
                <a:latin typeface="Segoe UI"/>
              </a:rPr>
              <a:t>DATA</a:t>
            </a:r>
          </a:p>
        </p:txBody>
      </p:sp>
      <p:sp>
        <p:nvSpPr>
          <p:cNvPr id="20" name="Oval 19"/>
          <p:cNvSpPr/>
          <p:nvPr/>
        </p:nvSpPr>
        <p:spPr>
          <a:xfrm>
            <a:off x="585216" y="188366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18288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UCI SMS Spam 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0345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archive.ics.uci.edu/dataset/228</a:t>
            </a:r>
          </a:p>
        </p:txBody>
      </p:sp>
      <p:sp>
        <p:nvSpPr>
          <p:cNvPr id="23" name="Oval 22"/>
          <p:cNvSpPr/>
          <p:nvPr/>
        </p:nvSpPr>
        <p:spPr>
          <a:xfrm>
            <a:off x="585216" y="234086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2860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UCI Phishing Websites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24917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archive.ics.uci.edu/dataset/327</a:t>
            </a:r>
          </a:p>
        </p:txBody>
      </p:sp>
      <p:sp>
        <p:nvSpPr>
          <p:cNvPr id="26" name="Oval 25"/>
          <p:cNvSpPr/>
          <p:nvPr/>
        </p:nvSpPr>
        <p:spPr>
          <a:xfrm>
            <a:off x="585216" y="279806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27432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Credit Card Fraud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29489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Kaggle / ULB dataset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5066" y="932688"/>
            <a:ext cx="3661562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5066" y="932688"/>
            <a:ext cx="3661562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47946" y="1152144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7946" y="11521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6586" y="1225296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60">
                <a:solidFill>
                  <a:srgbClr val="0A1B33"/>
                </a:solidFill>
                <a:latin typeface="Segoe UI"/>
              </a:rPr>
              <a:t>INTELLIGENCE</a:t>
            </a:r>
          </a:p>
        </p:txBody>
      </p:sp>
      <p:sp>
        <p:nvSpPr>
          <p:cNvPr id="34" name="Oval 33"/>
          <p:cNvSpPr/>
          <p:nvPr/>
        </p:nvSpPr>
        <p:spPr>
          <a:xfrm>
            <a:off x="4466234" y="188366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9114" y="18288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PhishTank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9114" y="20345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phishtank.org</a:t>
            </a:r>
          </a:p>
        </p:txBody>
      </p:sp>
      <p:sp>
        <p:nvSpPr>
          <p:cNvPr id="37" name="Oval 36"/>
          <p:cNvSpPr/>
          <p:nvPr/>
        </p:nvSpPr>
        <p:spPr>
          <a:xfrm>
            <a:off x="4466234" y="234086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9114" y="22860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Threat Intelligence Feeds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9114" y="24917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configurable adapters (planned)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46084" y="932688"/>
            <a:ext cx="3661562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14300" dist="27940" dir="5400000" rotWithShape="0">
              <a:srgbClr val="1E293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6084" y="932688"/>
            <a:ext cx="366156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28964" y="1152144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8964" y="115214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77604" y="1225296"/>
            <a:ext cx="2783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60">
                <a:solidFill>
                  <a:srgbClr val="0A1B33"/>
                </a:solidFill>
                <a:latin typeface="Segoe UI"/>
              </a:rPr>
              <a:t>TECHNOLOGY</a:t>
            </a:r>
          </a:p>
        </p:txBody>
      </p:sp>
      <p:sp>
        <p:nvSpPr>
          <p:cNvPr id="45" name="Oval 44"/>
          <p:cNvSpPr/>
          <p:nvPr/>
        </p:nvSpPr>
        <p:spPr>
          <a:xfrm>
            <a:off x="8347252" y="18836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0132" y="18288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LangGraph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0132" y="20345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langchain-ai.github.io/langgraph</a:t>
            </a:r>
          </a:p>
        </p:txBody>
      </p:sp>
      <p:sp>
        <p:nvSpPr>
          <p:cNvPr id="48" name="Oval 47"/>
          <p:cNvSpPr/>
          <p:nvPr/>
        </p:nvSpPr>
        <p:spPr>
          <a:xfrm>
            <a:off x="8347252" y="23408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0132" y="22860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Supabase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0132" y="24917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supabase.com/docs</a:t>
            </a:r>
          </a:p>
        </p:txBody>
      </p:sp>
      <p:sp>
        <p:nvSpPr>
          <p:cNvPr id="51" name="Oval 50"/>
          <p:cNvSpPr/>
          <p:nvPr/>
        </p:nvSpPr>
        <p:spPr>
          <a:xfrm>
            <a:off x="8347252" y="27980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30132" y="27432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Gemini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30132" y="29489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ai.google.dev/gemini-api/docs</a:t>
            </a:r>
          </a:p>
        </p:txBody>
      </p:sp>
      <p:sp>
        <p:nvSpPr>
          <p:cNvPr id="54" name="Oval 53"/>
          <p:cNvSpPr/>
          <p:nvPr/>
        </p:nvSpPr>
        <p:spPr>
          <a:xfrm>
            <a:off x="8347252" y="32552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0132" y="3200400"/>
            <a:ext cx="31129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F172A"/>
                </a:solidFill>
                <a:latin typeface="Segoe UI"/>
              </a:rPr>
              <a:t>Scikit-learn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30132" y="3406140"/>
            <a:ext cx="311292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55647E"/>
                </a:solidFill>
                <a:latin typeface="Segoe UI"/>
              </a:rPr>
              <a:t>scikit-learn.org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" y="3904487"/>
            <a:ext cx="64008" cy="182880"/>
          </a:xfrm>
          <a:prstGeom prst="roundRect">
            <a:avLst>
              <a:gd name="adj" fmla="val 50000"/>
            </a:avLst>
          </a:prstGeom>
          <a:solidFill>
            <a:srgbClr val="2746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3877055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SECURITY REFERENCES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4048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NIST Cybersecurity Guidance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81095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90823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OWASP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8143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87871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CERT-In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75191" y="4169663"/>
            <a:ext cx="2732455" cy="365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4919" y="4169663"/>
            <a:ext cx="2512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60" b="1" i="0">
                <a:solidFill>
                  <a:srgbClr val="0A1B33"/>
                </a:solidFill>
                <a:latin typeface="Segoe UI"/>
              </a:rPr>
              <a:t>Govt. of India Cybercrime Awareness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4048" y="4764024"/>
            <a:ext cx="64008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" y="473659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0">
                <a:solidFill>
                  <a:srgbClr val="0A1B33"/>
                </a:solidFill>
                <a:latin typeface="Segoe UI"/>
              </a:rPr>
              <a:t>RESEARCH BASIS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4048" y="5029200"/>
            <a:ext cx="1514246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4048" y="5029200"/>
            <a:ext cx="15142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Phishing Detection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026310" y="5029200"/>
            <a:ext cx="1514246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26310" y="5029200"/>
            <a:ext cx="151424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SMS Spam Detection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68572" y="5029200"/>
            <a:ext cx="1289304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68572" y="5029200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Fraud Detection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85892" y="5029200"/>
            <a:ext cx="1214323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85892" y="5029200"/>
            <a:ext cx="121432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Explainable AI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28231" y="5029200"/>
            <a:ext cx="1739188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28231" y="5029200"/>
            <a:ext cx="173918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F766E"/>
                </a:solidFill>
                <a:latin typeface="Segoe UI"/>
              </a:rPr>
              <a:t>Agentic AI / Tool-Use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50300" y="5047488"/>
            <a:ext cx="2743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1">
                <a:solidFill>
                  <a:srgbClr val="8592A8"/>
                </a:solidFill>
                <a:latin typeface="Segoe UI"/>
              </a:rPr>
              <a:t>— reference to be finalized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84048" y="5522976"/>
            <a:ext cx="3673754" cy="457200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" y="5586984"/>
            <a:ext cx="33811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 spc="40">
                <a:solidFill>
                  <a:srgbClr val="CCFBF1"/>
                </a:solidFill>
                <a:latin typeface="Segoe UI"/>
              </a:rPr>
              <a:t>PROTOTYPE / DEMO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0352" y="5751576"/>
            <a:ext cx="33811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Segoe UI"/>
              </a:rPr>
              <a:t>[ADD WORKING PROTOTYPE LINK]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58970" y="5522976"/>
            <a:ext cx="3673754" cy="457200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05274" y="5586984"/>
            <a:ext cx="33811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 spc="40">
                <a:solidFill>
                  <a:srgbClr val="CCFBF1"/>
                </a:solidFill>
                <a:latin typeface="Segoe UI"/>
              </a:rPr>
              <a:t>GITHUB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05274" y="5751576"/>
            <a:ext cx="33811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Segoe UI"/>
              </a:rPr>
              <a:t>[ADD GITHUB LINK]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33892" y="5522976"/>
            <a:ext cx="3673754" cy="457200"/>
          </a:xfrm>
          <a:prstGeom prst="roundRect">
            <a:avLst>
              <a:gd name="adj" fmla="val 10000"/>
            </a:avLst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80196" y="5586984"/>
            <a:ext cx="338114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 spc="40">
                <a:solidFill>
                  <a:srgbClr val="CCFBF1"/>
                </a:solidFill>
                <a:latin typeface="Segoe UI"/>
              </a:rPr>
              <a:t>DEMO VIDEO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80196" y="5751576"/>
            <a:ext cx="33811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Segoe UI"/>
              </a:rPr>
              <a:t>[ADD VIDEO LINK]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84048" y="6583680"/>
            <a:ext cx="11423599" cy="0"/>
          </a:xfrm>
          <a:prstGeom prst="line">
            <a:avLst/>
          </a:prstGeom>
          <a:ln w="952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84048" y="6652260"/>
            <a:ext cx="137159" cy="137160"/>
          </a:xfrm>
          <a:custGeom>
            <a:avLst/>
            <a:gdLst/>
            <a:ahLst/>
            <a:cxnLst/>
            <a:rect l="l" t="t" r="r" b="b"/>
            <a:pathLst>
              <a:path w="137159" h="137160">
                <a:moveTo>
                  <a:pt x="0" y="13716"/>
                </a:moveTo>
                <a:lnTo>
                  <a:pt x="68580" y="0"/>
                </a:lnTo>
                <a:lnTo>
                  <a:pt x="137159" y="13716"/>
                </a:lnTo>
                <a:lnTo>
                  <a:pt x="137159" y="68580"/>
                </a:lnTo>
                <a:lnTo>
                  <a:pt x="68580" y="137160"/>
                </a:lnTo>
                <a:lnTo>
                  <a:pt x="0" y="68580"/>
                </a:lnTo>
                <a:close/>
              </a:path>
            </a:pathLst>
          </a:custGeom>
          <a:solidFill>
            <a:srgbClr val="10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4048" y="6674205"/>
            <a:ext cx="13716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5216" y="6629400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FRAUDSHIELD AI  ·  Detect · Investigate · Explain · Act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0" y="6629400"/>
            <a:ext cx="4846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8592A8"/>
                </a:solidFill>
                <a:latin typeface="Segoe UI"/>
              </a:rPr>
              <a:t>Grounded in real datasets, tools and standards.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86800" y="6629400"/>
            <a:ext cx="30906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5647E"/>
                </a:solidFill>
                <a:latin typeface="Segoe UI"/>
              </a:rPr>
              <a:t>Page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