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-1554480"/>
            <a:ext cx="5486400" cy="548640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011680" y="5760720"/>
            <a:ext cx="4572000" cy="457200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12449" y="25968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31905" y="25968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51361" y="25968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12449" y="47914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31905" y="47914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51361" y="47914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12449" y="698601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31905" y="698601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51361" y="698601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927080" y="27432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146536" y="27432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27080" y="49377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46536" y="49377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27080" y="713232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46536" y="713232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256032"/>
            <a:ext cx="12191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260">
                <a:solidFill>
                  <a:srgbClr val="CCFBF1"/>
                </a:solidFill>
                <a:latin typeface="Segoe UI"/>
              </a:rPr>
              <a:t>SMART INDIA HACKATHON 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79" y="1536192"/>
            <a:ext cx="1379144" cy="0"/>
          </a:xfrm>
          <a:prstGeom prst="line">
            <a:avLst/>
          </a:prstGeom>
          <a:ln w="1778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884131" y="1490472"/>
            <a:ext cx="91440" cy="91440"/>
          </a:xfrm>
          <a:prstGeom prst="triangle">
            <a:avLst/>
          </a:prstGeom>
          <a:solidFill>
            <a:srgbClr val="3B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50943" y="1536192"/>
            <a:ext cx="1379144" cy="0"/>
          </a:xfrm>
          <a:prstGeom prst="line">
            <a:avLst/>
          </a:prstGeom>
          <a:ln w="1778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4994795" y="1490472"/>
            <a:ext cx="91440" cy="91440"/>
          </a:xfrm>
          <a:prstGeom prst="triangle">
            <a:avLst/>
          </a:prstGeom>
          <a:solidFill>
            <a:srgbClr val="3B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461607" y="1536192"/>
            <a:ext cx="1379144" cy="0"/>
          </a:xfrm>
          <a:prstGeom prst="line">
            <a:avLst/>
          </a:prstGeom>
          <a:ln w="1778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7105459" y="1490472"/>
            <a:ext cx="91440" cy="91440"/>
          </a:xfrm>
          <a:prstGeom prst="triangle">
            <a:avLst/>
          </a:prstGeom>
          <a:solidFill>
            <a:srgbClr val="3B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572271" y="1536192"/>
            <a:ext cx="1379144" cy="0"/>
          </a:xfrm>
          <a:prstGeom prst="line">
            <a:avLst/>
          </a:prstGeom>
          <a:ln w="1778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9216123" y="1490472"/>
            <a:ext cx="91440" cy="91440"/>
          </a:xfrm>
          <a:prstGeom prst="triangle">
            <a:avLst/>
          </a:prstGeom>
          <a:solidFill>
            <a:srgbClr val="3B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6463" y="1088136"/>
            <a:ext cx="896112" cy="896112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08760" y="1170432"/>
            <a:ext cx="731520" cy="73152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11704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" y="1993392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860" b="1" i="0">
                <a:solidFill>
                  <a:srgbClr val="DBEAFE"/>
                </a:solidFill>
                <a:latin typeface="Segoe UI"/>
              </a:rPr>
              <a:t>SUSPICIOUS
EMAIL</a:t>
            </a:r>
          </a:p>
        </p:txBody>
      </p:sp>
      <p:sp>
        <p:nvSpPr>
          <p:cNvPr id="34" name="Oval 33"/>
          <p:cNvSpPr/>
          <p:nvPr/>
        </p:nvSpPr>
        <p:spPr>
          <a:xfrm>
            <a:off x="3537127" y="1088136"/>
            <a:ext cx="896112" cy="896112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19423" y="1170432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9423" y="11704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6503" y="1993392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860" b="1" i="0">
                <a:solidFill>
                  <a:srgbClr val="DBEAFE"/>
                </a:solidFill>
                <a:latin typeface="Segoe UI"/>
              </a:rPr>
              <a:t>AI
INVESTIGATION</a:t>
            </a:r>
          </a:p>
        </p:txBody>
      </p:sp>
      <p:sp>
        <p:nvSpPr>
          <p:cNvPr id="38" name="Oval 37"/>
          <p:cNvSpPr/>
          <p:nvPr/>
        </p:nvSpPr>
        <p:spPr>
          <a:xfrm>
            <a:off x="5647791" y="1088136"/>
            <a:ext cx="896112" cy="896112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30087" y="1170432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30087" y="11704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7167" y="1993392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860" b="1" i="0">
                <a:solidFill>
                  <a:srgbClr val="DBEAFE"/>
                </a:solidFill>
                <a:latin typeface="Segoe UI"/>
              </a:rPr>
              <a:t>FORENSIC
EVIDENCE</a:t>
            </a:r>
          </a:p>
        </p:txBody>
      </p:sp>
      <p:sp>
        <p:nvSpPr>
          <p:cNvPr id="42" name="Oval 41"/>
          <p:cNvSpPr/>
          <p:nvPr/>
        </p:nvSpPr>
        <p:spPr>
          <a:xfrm>
            <a:off x="7758455" y="1088136"/>
            <a:ext cx="896112" cy="896112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40751" y="1170432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0751" y="11704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7831" y="1993392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860" b="1" i="0">
                <a:solidFill>
                  <a:srgbClr val="DBEAFE"/>
                </a:solidFill>
                <a:latin typeface="Segoe UI"/>
              </a:rPr>
              <a:t>THREAT
INFRASTRUCTURE</a:t>
            </a:r>
          </a:p>
        </p:txBody>
      </p:sp>
      <p:sp>
        <p:nvSpPr>
          <p:cNvPr id="46" name="Oval 45"/>
          <p:cNvSpPr/>
          <p:nvPr/>
        </p:nvSpPr>
        <p:spPr>
          <a:xfrm>
            <a:off x="9869119" y="1088136"/>
            <a:ext cx="896112" cy="896112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042855" y="123626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"/>
                </a:moveTo>
                <a:lnTo>
                  <a:pt x="274320" y="0"/>
                </a:lnTo>
                <a:lnTo>
                  <a:pt x="548640" y="54864"/>
                </a:lnTo>
                <a:lnTo>
                  <a:pt x="548640" y="274320"/>
                </a:lnTo>
                <a:lnTo>
                  <a:pt x="274320" y="548640"/>
                </a:lnTo>
                <a:lnTo>
                  <a:pt x="0" y="27432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42855" y="1324051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8495" y="1993392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860" b="1" i="0">
                <a:solidFill>
                  <a:srgbClr val="DBEAFE"/>
                </a:solidFill>
                <a:latin typeface="Segoe UI"/>
              </a:rPr>
              <a:t>RISK &amp;
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2395728"/>
            <a:ext cx="121916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1">
                <a:solidFill>
                  <a:srgbClr val="CCFBF1"/>
                </a:solidFill>
                <a:latin typeface="Segoe UI"/>
              </a:rPr>
              <a:t>“Others detect the threat. NetraX investigates the threat.”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2834640"/>
            <a:ext cx="121916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spc="16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3438144"/>
            <a:ext cx="96313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AI-Powered Email Threat Detection, GeoLocation &amp; Forensic Intelligence 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3913632"/>
            <a:ext cx="90827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Detection tells you WHAT. NetraX investigates WHY.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4315968"/>
            <a:ext cx="10911535" cy="1225296"/>
          </a:xfrm>
          <a:prstGeom prst="roundRect">
            <a:avLst>
              <a:gd name="adj" fmla="val 8000"/>
            </a:avLst>
          </a:prstGeom>
          <a:solidFill>
            <a:srgbClr val="1C3A63"/>
          </a:solidFill>
          <a:ln w="9525">
            <a:solidFill>
              <a:srgbClr val="2C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462272"/>
            <a:ext cx="198113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70">
                <a:solidFill>
                  <a:srgbClr val="CCFBF1"/>
                </a:solidFill>
                <a:latin typeface="Segoe UI"/>
              </a:rPr>
              <a:t>PROBLEM STATEMENT 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631436"/>
            <a:ext cx="19811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SIH26106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86979" y="4462272"/>
            <a:ext cx="198113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70">
                <a:solidFill>
                  <a:srgbClr val="CCFBF1"/>
                </a:solidFill>
                <a:latin typeface="Segoe UI"/>
              </a:rPr>
              <a:t>THEME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86979" y="4631436"/>
            <a:ext cx="19811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Blockchain &amp; Cybersecurity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59558" y="4462272"/>
            <a:ext cx="198113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70">
                <a:solidFill>
                  <a:srgbClr val="CCFBF1"/>
                </a:solidFill>
                <a:latin typeface="Segoe UI"/>
              </a:rPr>
              <a:t>PS CATEGORY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59558" y="4631436"/>
            <a:ext cx="19811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Software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137" y="4462272"/>
            <a:ext cx="198113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70">
                <a:solidFill>
                  <a:srgbClr val="CCFBF1"/>
                </a:solidFill>
                <a:latin typeface="Segoe UI"/>
              </a:rPr>
              <a:t>TEAM 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137" y="4631436"/>
            <a:ext cx="19811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[TEAM ID]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4716" y="4462272"/>
            <a:ext cx="198113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70">
                <a:solidFill>
                  <a:srgbClr val="CCFBF1"/>
                </a:solidFill>
                <a:latin typeface="Segoe UI"/>
              </a:rPr>
              <a:t>TEAM NAME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04716" y="4631436"/>
            <a:ext cx="19811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Nexora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14400" y="4937760"/>
            <a:ext cx="10362895" cy="0"/>
          </a:xfrm>
          <a:prstGeom prst="line">
            <a:avLst/>
          </a:prstGeom>
          <a:ln w="9525">
            <a:solidFill>
              <a:srgbClr val="2C4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4400" y="5010912"/>
            <a:ext cx="103628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70">
                <a:solidFill>
                  <a:srgbClr val="CCFBF1"/>
                </a:solidFill>
                <a:latin typeface="Segoe UI"/>
              </a:rPr>
              <a:t>PROBLEM STATEMENT TITLE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175504"/>
            <a:ext cx="10362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AI-Powered Email Threat Detection, GeoLocation and Forensic Intelligence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669280"/>
            <a:ext cx="109115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DBEAFE"/>
                </a:solidFill>
                <a:latin typeface="Segoe UI"/>
              </a:rPr>
              <a:t>All India Council for Technical Education (Cyber Security Cell)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888736"/>
            <a:ext cx="10911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1">
                <a:solidFill>
                  <a:srgbClr val="8592A8"/>
                </a:solidFill>
                <a:latin typeface="Segoe UI"/>
              </a:rPr>
              <a:t>Decision-support &amp; forensic-intelligence prototype — not a substitute for banks, police or official cybercrime reporting (cybercrime.gov.in)  ·  SIH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PROPOSED SOLUTION &amp;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From detecting a suspicious email to investigating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1389888"/>
            <a:ext cx="1151077" cy="0"/>
          </a:xfrm>
          <a:prstGeom prst="line">
            <a:avLst/>
          </a:prstGeom>
          <a:ln w="1651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61005" y="1389888"/>
            <a:ext cx="1151077" cy="0"/>
          </a:xfrm>
          <a:prstGeom prst="line">
            <a:avLst/>
          </a:prstGeom>
          <a:ln w="1651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3874" y="1389888"/>
            <a:ext cx="1151077" cy="0"/>
          </a:xfrm>
          <a:prstGeom prst="line">
            <a:avLst/>
          </a:prstGeom>
          <a:ln w="1651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6743" y="1389888"/>
            <a:ext cx="1151077" cy="0"/>
          </a:xfrm>
          <a:prstGeom prst="line">
            <a:avLst/>
          </a:prstGeom>
          <a:ln w="1651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79612" y="1389888"/>
            <a:ext cx="1151078" cy="0"/>
          </a:xfrm>
          <a:prstGeom prst="line">
            <a:avLst/>
          </a:prstGeom>
          <a:ln w="1651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52482" y="1389888"/>
            <a:ext cx="1151077" cy="0"/>
          </a:xfrm>
          <a:prstGeom prst="line">
            <a:avLst/>
          </a:prstGeom>
          <a:ln w="1651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66344" y="1078992"/>
            <a:ext cx="621792" cy="62179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" y="10789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1755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SUSPICIOUS
EMAIL</a:t>
            </a:r>
          </a:p>
        </p:txBody>
      </p:sp>
      <p:sp>
        <p:nvSpPr>
          <p:cNvPr id="23" name="Oval 22"/>
          <p:cNvSpPr/>
          <p:nvPr/>
        </p:nvSpPr>
        <p:spPr>
          <a:xfrm>
            <a:off x="2239213" y="1078992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39213" y="10789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4309" y="1755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EMAIL
FORENSICS</a:t>
            </a:r>
          </a:p>
        </p:txBody>
      </p:sp>
      <p:sp>
        <p:nvSpPr>
          <p:cNvPr id="26" name="Oval 25"/>
          <p:cNvSpPr/>
          <p:nvPr/>
        </p:nvSpPr>
        <p:spPr>
          <a:xfrm>
            <a:off x="3956121" y="1023030"/>
            <a:ext cx="733714" cy="73371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6121" y="1023030"/>
            <a:ext cx="733714" cy="7337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7178" y="1811609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AGENTIC
INVESTIGATION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84951" y="1078992"/>
            <a:ext cx="621792" cy="6217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4951" y="10789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0047" y="1755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THREAT
INTELLIGENCE</a:t>
            </a:r>
          </a:p>
        </p:txBody>
      </p:sp>
      <p:sp>
        <p:nvSpPr>
          <p:cNvPr id="32" name="Oval 31"/>
          <p:cNvSpPr/>
          <p:nvPr/>
        </p:nvSpPr>
        <p:spPr>
          <a:xfrm>
            <a:off x="7557820" y="1078992"/>
            <a:ext cx="621792" cy="62179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7820" y="10789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2916" y="1755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INFRASTRUCTURE
ANALYSIS</a:t>
            </a:r>
          </a:p>
        </p:txBody>
      </p:sp>
      <p:sp>
        <p:nvSpPr>
          <p:cNvPr id="35" name="Oval 34"/>
          <p:cNvSpPr/>
          <p:nvPr/>
        </p:nvSpPr>
        <p:spPr>
          <a:xfrm>
            <a:off x="9330690" y="1078992"/>
            <a:ext cx="621792" cy="62179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30690" y="10789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5786" y="1755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EVIDENCE
CORRELATION</a:t>
            </a:r>
          </a:p>
        </p:txBody>
      </p:sp>
      <p:sp>
        <p:nvSpPr>
          <p:cNvPr id="38" name="Oval 37"/>
          <p:cNvSpPr/>
          <p:nvPr/>
        </p:nvSpPr>
        <p:spPr>
          <a:xfrm>
            <a:off x="11103559" y="1078992"/>
            <a:ext cx="621792" cy="6217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3559" y="10789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1755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0A1B33"/>
                </a:solidFill>
                <a:latin typeface="Segoe UI"/>
              </a:rPr>
              <a:t>EXPLAINABLE
RISK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104168" y="2103120"/>
            <a:ext cx="3218810" cy="310896"/>
          </a:xfrm>
          <a:prstGeom prst="line">
            <a:avLst/>
          </a:prstGeom>
          <a:ln w="10795">
            <a:solidFill>
              <a:srgbClr val="CBD5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84048" y="2414016"/>
            <a:ext cx="360060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4048" y="2414016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5216" y="25786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" y="25786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2596896"/>
            <a:ext cx="27776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1B33"/>
                </a:solidFill>
                <a:latin typeface="Segoe UI"/>
              </a:rPr>
              <a:t>AGENTIC INVESTIGATION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3054096"/>
            <a:ext cx="321655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AI dynamically selects only the tools an email's own indicators call for — no fixed pipeline.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550109" y="2103120"/>
            <a:ext cx="3545738" cy="310896"/>
          </a:xfrm>
          <a:prstGeom prst="line">
            <a:avLst/>
          </a:prstGeom>
          <a:ln w="10795">
            <a:solidFill>
              <a:srgbClr val="CBD5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295546" y="2414016"/>
            <a:ext cx="360060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5546" y="2414016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96714" y="25786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96714" y="25786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90490" y="2596896"/>
            <a:ext cx="27776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1B33"/>
                </a:solidFill>
                <a:latin typeface="Segoe UI"/>
              </a:rPr>
              <a:t>EMAIL FORENSICS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96714" y="3054096"/>
            <a:ext cx="321655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Sender identity, SPF/DKIM/DMARC, Received-chain and header anomalies, fully cited.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95847" y="2103120"/>
            <a:ext cx="4991679" cy="310896"/>
          </a:xfrm>
          <a:prstGeom prst="line">
            <a:avLst/>
          </a:prstGeom>
          <a:ln w="10795">
            <a:solidFill>
              <a:srgbClr val="CBD5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207044" y="2414016"/>
            <a:ext cx="360060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07044" y="2414016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408212" y="257860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08212" y="25786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01988" y="2596896"/>
            <a:ext cx="27776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1B33"/>
                </a:solidFill>
                <a:latin typeface="Segoe UI"/>
              </a:rPr>
              <a:t>THREAT INTELLIGENCE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8212" y="3054096"/>
            <a:ext cx="321655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Extracted URLs/domains correlated against PhishTank and URLhaus where applicable.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1104168" y="2103120"/>
            <a:ext cx="6764548" cy="2002536"/>
          </a:xfrm>
          <a:prstGeom prst="line">
            <a:avLst/>
          </a:prstGeom>
          <a:ln w="10795">
            <a:solidFill>
              <a:srgbClr val="CBD5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384048" y="4105656"/>
            <a:ext cx="360060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4048" y="4105656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85216" y="4270248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5216" y="4270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" y="4288536"/>
            <a:ext cx="27776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1B33"/>
                </a:solidFill>
                <a:latin typeface="Segoe UI"/>
              </a:rPr>
              <a:t>INFRASTRUCTURE INTELLIGENCE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" y="4745736"/>
            <a:ext cx="321655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Public source IP → ASN → organization/network → approximate geolocation.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6095847" y="2103120"/>
            <a:ext cx="3545739" cy="2002536"/>
          </a:xfrm>
          <a:prstGeom prst="line">
            <a:avLst/>
          </a:prstGeom>
          <a:ln w="10795">
            <a:solidFill>
              <a:srgbClr val="CBD5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4295546" y="4105656"/>
            <a:ext cx="360060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295546" y="4105656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96714" y="4270248"/>
            <a:ext cx="384048" cy="384048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96714" y="4270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90490" y="4288536"/>
            <a:ext cx="27776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1B33"/>
                </a:solidFill>
                <a:latin typeface="Segoe UI"/>
              </a:rPr>
              <a:t>EVIDENCE GRAPH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6714" y="4745736"/>
            <a:ext cx="321655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Connects Email → Sender → Domain → URL → IP → ASN → Geo → Threat Intel.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11087526" y="2103120"/>
            <a:ext cx="326929" cy="2002536"/>
          </a:xfrm>
          <a:prstGeom prst="line">
            <a:avLst/>
          </a:prstGeom>
          <a:ln w="10795">
            <a:solidFill>
              <a:srgbClr val="CBD5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8207044" y="4105656"/>
            <a:ext cx="360060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207044" y="4105656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08212" y="4270248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08212" y="4270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01988" y="4288536"/>
            <a:ext cx="27776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1B33"/>
                </a:solidFill>
                <a:latin typeface="Segoe UI"/>
              </a:rPr>
              <a:t>EXPLAINABLE RISK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08212" y="4745736"/>
            <a:ext cx="3216554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Multiple evidence signals fused into one transparent, deterministic risk score.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" y="5888736"/>
            <a:ext cx="11423599" cy="38404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4048" y="5888736"/>
            <a:ext cx="114235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1">
                <a:solidFill>
                  <a:srgbClr val="FFFFFF"/>
                </a:solidFill>
                <a:latin typeface="Segoe UI"/>
              </a:rPr>
              <a:t>Detection tells you WHAT happened. NetraX investigates WHY — and hands you the evidence.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Why is this more than a spam filter?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Email Investigation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6523" y="1042416"/>
            <a:ext cx="4297680" cy="274320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13683" y="10424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3723" y="104241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FFFFFF"/>
                </a:solidFill>
                <a:latin typeface="Segoe UI"/>
              </a:rPr>
              <a:t>SUSPICIOUS EMAIL (.eml / paste / JSON)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25363" y="1316736"/>
            <a:ext cx="0" cy="914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776523" y="1408176"/>
            <a:ext cx="4297680" cy="274320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13683" y="14081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3723" y="14081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FFFFFF"/>
                </a:solidFill>
                <a:latin typeface="Segoe UI"/>
              </a:rPr>
              <a:t>EMAIL PARSER — MIME + indicator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896112"/>
            <a:ext cx="708263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60">
                <a:solidFill>
                  <a:srgbClr val="8592A8"/>
                </a:solidFill>
                <a:latin typeface="Segoe UI"/>
              </a:rPr>
              <a:t>01  INGESTION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25363" y="1682496"/>
            <a:ext cx="0" cy="27432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486451" y="1883664"/>
            <a:ext cx="877824" cy="877824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59603" y="1956816"/>
            <a:ext cx="731520" cy="7315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9603" y="200253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NETRAX
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1719072"/>
            <a:ext cx="708263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60">
                <a:solidFill>
                  <a:srgbClr val="8592A8"/>
                </a:solidFill>
                <a:latin typeface="Segoe UI"/>
              </a:rPr>
              <a:t>02  ORCHESTRATOR — decides which tools this email needs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192765" y="2483756"/>
            <a:ext cx="1404267" cy="689368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602787" y="2999232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2787" y="2999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7883" y="36575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680" b="1" i="0">
                <a:solidFill>
                  <a:srgbClr val="0A1B33"/>
                </a:solidFill>
                <a:latin typeface="Segoe UI"/>
              </a:rPr>
              <a:t>HEADER
FORENSICS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141367" y="2578823"/>
            <a:ext cx="523003" cy="513494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608627" y="2999232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8627" y="2999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3723" y="36575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680" b="1" i="0">
                <a:solidFill>
                  <a:srgbClr val="0A1B33"/>
                </a:solidFill>
                <a:latin typeface="Segoe UI"/>
              </a:rPr>
              <a:t>URL / DOMAIN
ANALYSIS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25363" y="2688336"/>
            <a:ext cx="0" cy="310896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614467" y="2999232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4467" y="2999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9563" y="36575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680" b="1" i="0">
                <a:solidFill>
                  <a:srgbClr val="0A1B33"/>
                </a:solidFill>
                <a:latin typeface="Segoe UI"/>
              </a:rPr>
              <a:t>SENDER
IDENTITY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25363" y="2688336"/>
            <a:ext cx="1005840" cy="310896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620307" y="2999232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0307" y="2999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0D9488"/>
                </a:solidFill>
                <a:latin typeface="Segoe UI"/>
              </a:rPr>
              <a:t>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5403" y="36575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680" b="1" i="1">
                <a:solidFill>
                  <a:srgbClr val="55647E"/>
                </a:solidFill>
                <a:latin typeface="Segoe UI"/>
              </a:rPr>
              <a:t>THREAT INTEL
(if URL found)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45403" y="3941063"/>
            <a:ext cx="13716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0D9488"/>
                </a:solidFill>
                <a:latin typeface="Segoe UI"/>
              </a:rPr>
              <a:t>PhishTank · URLhaus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25363" y="2688336"/>
            <a:ext cx="2011680" cy="310896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626147" y="2999232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6147" y="2999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F46E5"/>
                </a:solidFill>
                <a:latin typeface="Segoe UI"/>
              </a:rPr>
              <a:t>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1243" y="36575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680" b="1" i="1">
                <a:solidFill>
                  <a:srgbClr val="55647E"/>
                </a:solidFill>
                <a:latin typeface="Segoe UI"/>
              </a:rPr>
              <a:t>GEOLOCATION
(if public IP)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1243" y="3941063"/>
            <a:ext cx="13716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4F46E5"/>
                </a:solidFill>
                <a:latin typeface="Segoe UI"/>
              </a:rPr>
              <a:t>Source IP → ASN → GeoLite2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2816351"/>
            <a:ext cx="708263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60">
                <a:solidFill>
                  <a:srgbClr val="8592A8"/>
                </a:solidFill>
                <a:latin typeface="Segoe UI"/>
              </a:rPr>
              <a:t>03  TOOLS</a:t>
            </a:r>
          </a:p>
        </p:txBody>
      </p:sp>
      <p:sp>
        <p:nvSpPr>
          <p:cNvPr id="50" name="Oval 49"/>
          <p:cNvSpPr/>
          <p:nvPr/>
        </p:nvSpPr>
        <p:spPr>
          <a:xfrm>
            <a:off x="384048" y="3163823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7" y="3136391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i="1">
                <a:solidFill>
                  <a:srgbClr val="55647E"/>
                </a:solidFill>
                <a:latin typeface="Segoe UI"/>
              </a:rPr>
              <a:t>always run</a:t>
            </a:r>
          </a:p>
        </p:txBody>
      </p:sp>
      <p:sp>
        <p:nvSpPr>
          <p:cNvPr id="52" name="Oval 51"/>
          <p:cNvSpPr/>
          <p:nvPr/>
        </p:nvSpPr>
        <p:spPr>
          <a:xfrm>
            <a:off x="384048" y="3364991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7" y="3337559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i="1">
                <a:solidFill>
                  <a:srgbClr val="55647E"/>
                </a:solidFill>
                <a:latin typeface="Segoe UI"/>
              </a:rPr>
              <a:t>conditional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913683" y="3621023"/>
            <a:ext cx="2011680" cy="640081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19523" y="3621023"/>
            <a:ext cx="1005840" cy="640081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925363" y="3621023"/>
            <a:ext cx="0" cy="640081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925363" y="3621023"/>
            <a:ext cx="1005840" cy="640081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925363" y="3621023"/>
            <a:ext cx="2011680" cy="640081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687619" y="4261104"/>
            <a:ext cx="475488" cy="475488"/>
          </a:xfrm>
          <a:prstGeom prst="ellipse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87619" y="42611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28083" y="4764024"/>
            <a:ext cx="21945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spc="30">
                <a:solidFill>
                  <a:srgbClr val="0A1B33"/>
                </a:solidFill>
                <a:latin typeface="Segoe UI"/>
              </a:rPr>
              <a:t>EVIDENCE FUSION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925363" y="4791455"/>
            <a:ext cx="0" cy="219457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252728" y="5029200"/>
            <a:ext cx="1336317" cy="2011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52728" y="5248655"/>
            <a:ext cx="133631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55647E"/>
                </a:solidFill>
                <a:latin typeface="Segoe UI"/>
              </a:rPr>
              <a:t>LOW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89045" y="5029200"/>
            <a:ext cx="1336317" cy="2011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89045" y="5248655"/>
            <a:ext cx="133631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55647E"/>
                </a:solidFill>
                <a:latin typeface="Segoe UI"/>
              </a:rPr>
              <a:t>MEDIUM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25363" y="5029200"/>
            <a:ext cx="1336317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25363" y="5248655"/>
            <a:ext cx="133631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55647E"/>
                </a:solidFill>
                <a:latin typeface="Segoe UI"/>
              </a:rPr>
              <a:t>HIGH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261681" y="5029200"/>
            <a:ext cx="1336317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61681" y="5248655"/>
            <a:ext cx="133631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55647E"/>
                </a:solidFill>
                <a:latin typeface="Segoe UI"/>
              </a:rPr>
              <a:t>CRITICAL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048" y="5010912"/>
            <a:ext cx="7955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680" b="1" i="0">
                <a:solidFill>
                  <a:srgbClr val="0A1B33"/>
                </a:solidFill>
                <a:latin typeface="Segoe UI"/>
              </a:rPr>
              <a:t>RISK ENGINE
(0-100, deterministic) 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65043" y="550468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56483" y="5504688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67379" y="5504688"/>
            <a:ext cx="1920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D4ED8"/>
                </a:solidFill>
                <a:latin typeface="Segoe UI"/>
              </a:rPr>
              <a:t>EXPLAINABLE FINDINGS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08243" y="550468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99683" y="5504688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0579" y="5504688"/>
            <a:ext cx="1920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D4ED8"/>
                </a:solidFill>
                <a:latin typeface="Segoe UI"/>
              </a:rPr>
              <a:t>CASE REPORT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" y="550468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60">
                <a:solidFill>
                  <a:srgbClr val="8592A8"/>
                </a:solidFill>
                <a:latin typeface="Segoe UI"/>
              </a:rPr>
              <a:t>06  DECIDE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40999" y="978408"/>
            <a:ext cx="64008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87303" y="950976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">
                <a:solidFill>
                  <a:srgbClr val="0A1B33"/>
                </a:solidFill>
                <a:latin typeface="Segoe UI"/>
              </a:rPr>
              <a:t>DATA GROUNDING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0999" y="1207008"/>
            <a:ext cx="4066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A1B33"/>
                </a:solidFill>
                <a:latin typeface="Segoe UI"/>
              </a:rPr>
              <a:t>Enron Email Corpus  </a:t>
            </a:r>
            <a:r>
              <a:rPr sz="760" b="0" i="1">
                <a:solidFill>
                  <a:srgbClr val="55647E"/>
                </a:solidFill>
                <a:latin typeface="Segoe UI"/>
              </a:rPr>
              <a:t>— structural/language reference — not a labelled class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40999" y="1421892"/>
            <a:ext cx="4066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A1B33"/>
                </a:solidFill>
                <a:latin typeface="Segoe UI"/>
              </a:rPr>
              <a:t>SpamAssassin Corpus  </a:t>
            </a:r>
            <a:r>
              <a:rPr sz="760" b="0" i="1">
                <a:solidFill>
                  <a:srgbClr val="55647E"/>
                </a:solidFill>
                <a:latin typeface="Segoe UI"/>
              </a:rPr>
              <a:t>— trains the email content classifier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0999" y="1636776"/>
            <a:ext cx="4066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A1B33"/>
                </a:solidFill>
                <a:latin typeface="Segoe UI"/>
              </a:rPr>
              <a:t>UCI Phishing Websites  </a:t>
            </a:r>
            <a:r>
              <a:rPr sz="760" b="0" i="1">
                <a:solidFill>
                  <a:srgbClr val="55647E"/>
                </a:solidFill>
                <a:latin typeface="Segoe UI"/>
              </a:rPr>
              <a:t>— trains the URL classifier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40999" y="1851660"/>
            <a:ext cx="4066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A1B33"/>
                </a:solidFill>
                <a:latin typeface="Segoe UI"/>
              </a:rPr>
              <a:t>PhishTank  </a:t>
            </a:r>
            <a:r>
              <a:rPr sz="760" b="0" i="1">
                <a:solidFill>
                  <a:srgbClr val="55647E"/>
                </a:solidFill>
                <a:latin typeface="Segoe UI"/>
              </a:rPr>
              <a:t>— phishing URL threat intel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0999" y="2066543"/>
            <a:ext cx="4066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A1B33"/>
                </a:solidFill>
                <a:latin typeface="Segoe UI"/>
              </a:rPr>
              <a:t>URLhaus  </a:t>
            </a:r>
            <a:r>
              <a:rPr sz="760" b="0" i="1">
                <a:solidFill>
                  <a:srgbClr val="55647E"/>
                </a:solidFill>
                <a:latin typeface="Segoe UI"/>
              </a:rPr>
              <a:t>— malware-distribution URL threat intel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40999" y="2281427"/>
            <a:ext cx="4066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A1B33"/>
                </a:solidFill>
                <a:latin typeface="Segoe UI"/>
              </a:rPr>
              <a:t>MaxMind GeoLite2  </a:t>
            </a:r>
            <a:r>
              <a:rPr sz="760" b="0" i="1">
                <a:solidFill>
                  <a:srgbClr val="55647E"/>
                </a:solidFill>
                <a:latin typeface="Segoe UI"/>
              </a:rPr>
              <a:t>— IP → ASN → geolocation enrichment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40999" y="2615183"/>
            <a:ext cx="64008" cy="1828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87303" y="25877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">
                <a:solidFill>
                  <a:srgbClr val="0A1B33"/>
                </a:solidFill>
                <a:latin typeface="Segoe UI"/>
              </a:rPr>
              <a:t>TRAINED ML MODELS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740999" y="2843783"/>
            <a:ext cx="406664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50727" y="2898647"/>
            <a:ext cx="38471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Email content classifier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50727" y="3072383"/>
            <a:ext cx="38471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80" b="0" i="0">
                <a:solidFill>
                  <a:srgbClr val="55647E"/>
                </a:solidFill>
                <a:latin typeface="Segoe UI"/>
              </a:rPr>
              <a:t>TF-IDF + Linear SVM · F1 = 0.961, ROC-AUC = 0.998
(measured, held-out SpamAssassin test set)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740999" y="3502151"/>
            <a:ext cx="4066647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0727" y="3557015"/>
            <a:ext cx="38471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URL / domain classifier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50727" y="3730751"/>
            <a:ext cx="38471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80" b="0" i="0">
                <a:solidFill>
                  <a:srgbClr val="55647E"/>
                </a:solidFill>
                <a:latin typeface="Segoe UI"/>
              </a:rPr>
              <a:t>HistGradientBoosting · F1 = 0.954
(measured, UCI Phishing Websites test set)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740999" y="4261103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87303" y="423367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">
                <a:solidFill>
                  <a:srgbClr val="0A1B33"/>
                </a:solidFill>
                <a:latin typeface="Segoe UI"/>
              </a:rPr>
              <a:t>AGENTIC LOGIC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0999" y="4471415"/>
            <a:ext cx="40666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740" b="1">
                <a:solidFill>
                  <a:srgbClr val="D97706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No URL in email → URL &amp; threat-intel tools skipped entirely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740" b="1">
                <a:solidFill>
                  <a:srgbClr val="D97706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No public source IP → geolocation skipped entirely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740" b="1">
                <a:solidFill>
                  <a:srgbClr val="D97706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Every skip is logged — auditable, not silent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40999" y="5257799"/>
            <a:ext cx="4066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i="1">
                <a:solidFill>
                  <a:srgbClr val="0A1B33"/>
                </a:solidFill>
                <a:latin typeface="Segoe UI"/>
              </a:rPr>
              <a:t>AI orchestrates &amp; explains. The risk engine calculates — never an LLM guessing a number.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84048" y="5998464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84048" y="6053328"/>
            <a:ext cx="552891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60">
                <a:solidFill>
                  <a:srgbClr val="8592A8"/>
                </a:solidFill>
                <a:latin typeface="Segoe UI"/>
              </a:rPr>
              <a:t>FRONTEND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4048" y="6208776"/>
            <a:ext cx="5528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0A1B33"/>
                </a:solidFill>
                <a:latin typeface="Segoe UI"/>
              </a:rPr>
              <a:t>React · TypeScript · Vite · Tailwind CSS · shadcn/ui · Framer Motion · Recharts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95847" y="6053328"/>
            <a:ext cx="552891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60">
                <a:solidFill>
                  <a:srgbClr val="8592A8"/>
                </a:solidFill>
                <a:latin typeface="Segoe UI"/>
              </a:rPr>
              <a:t>BACKEND / ML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95847" y="6208776"/>
            <a:ext cx="5528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0A1B33"/>
                </a:solidFill>
                <a:latin typeface="Segoe UI"/>
              </a:rPr>
              <a:t>Supabase · PostgreSQL · Edge Functions · Python · scikit-learn · Gemini API (explanation layer, planned)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No chain-of-thought exposed — only auditable tools, findings and evidence.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FEASIBILITY &amp;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Prototype → Validation → Deployment-Ready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932688"/>
            <a:ext cx="3624986" cy="1005840"/>
          </a:xfrm>
          <a:prstGeom prst="roundRect">
            <a:avLst>
              <a:gd name="adj" fmla="val 9000"/>
            </a:avLst>
          </a:prstGeom>
          <a:solidFill>
            <a:srgbClr val="27466F"/>
          </a:solidFill>
          <a:ln>
            <a:noFill/>
          </a:ln>
          <a:effectLst>
            <a:outerShdw blurRad="101600" dist="27940" dir="5400000" rotWithShape="0">
              <a:srgbClr val="1E293B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060704"/>
            <a:ext cx="32592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261872"/>
            <a:ext cx="32592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PROTOTYPE (TODAY)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536192"/>
            <a:ext cx="32592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FFFFFF"/>
                </a:solidFill>
                <a:latin typeface="Segoe UI"/>
              </a:rPr>
              <a:t>203 automated tests passing
(169 TS + 34 Python — measured)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7322" y="1364284"/>
            <a:ext cx="182880" cy="14264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3354" y="932688"/>
            <a:ext cx="3624986" cy="1005840"/>
          </a:xfrm>
          <a:prstGeom prst="roundRect">
            <a:avLst>
              <a:gd name="adj" fmla="val 9000"/>
            </a:avLst>
          </a:prstGeom>
          <a:solidFill>
            <a:srgbClr val="0D9488"/>
          </a:solidFill>
          <a:ln>
            <a:noFill/>
          </a:ln>
          <a:effectLst>
            <a:outerShdw blurRad="101600" dist="27940" dir="5400000" rotWithShape="0">
              <a:srgbClr val="1E293B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6234" y="1060704"/>
            <a:ext cx="32592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6234" y="1261872"/>
            <a:ext cx="32592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6234" y="1536192"/>
            <a:ext cx="32592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FFFFFF"/>
                </a:solidFill>
                <a:latin typeface="Segoe UI"/>
              </a:rPr>
              <a:t>Threshold tuning · cross-validation
human review · feedback loop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26628" y="1364284"/>
            <a:ext cx="182880" cy="14264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2660" y="932688"/>
            <a:ext cx="3624986" cy="10058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>
            <a:outerShdw blurRad="101600" dist="27940" dir="5400000" rotWithShape="0">
              <a:srgbClr val="1E293B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5540" y="1060704"/>
            <a:ext cx="32592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5540" y="1261872"/>
            <a:ext cx="32592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DEPLOYMENT-READY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5540" y="1536192"/>
            <a:ext cx="32592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FFFFFF"/>
                </a:solidFill>
                <a:latin typeface="Segoe UI"/>
              </a:rPr>
              <a:t>Portable Edge Functions · RLS schema
credential-gated live intel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2167128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2139696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CHALLENGE → MITIGATION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2487168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432304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F172A"/>
                </a:solidFill>
                <a:latin typeface="Segoe UI"/>
              </a:rPr>
              <a:t>Data quality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30168" y="2512405"/>
            <a:ext cx="146304" cy="114117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77056" y="2487168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8224" y="2432304"/>
            <a:ext cx="76745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5647E"/>
                </a:solidFill>
                <a:latin typeface="Segoe UI"/>
              </a:rPr>
              <a:t>Preprocessing + profiling before training (reports/data_quality_report.md)</a:t>
            </a:r>
          </a:p>
        </p:txBody>
      </p:sp>
      <p:sp>
        <p:nvSpPr>
          <p:cNvPr id="35" name="Oval 34"/>
          <p:cNvSpPr/>
          <p:nvPr/>
        </p:nvSpPr>
        <p:spPr>
          <a:xfrm>
            <a:off x="384048" y="278892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2734056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F172A"/>
                </a:solidFill>
                <a:latin typeface="Segoe UI"/>
              </a:rPr>
              <a:t>Threat-intel / API availability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630168" y="2814157"/>
            <a:ext cx="146304" cy="114117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77056" y="278892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8224" y="2734056"/>
            <a:ext cx="76745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5647E"/>
                </a:solidFill>
                <a:latin typeface="Segoe UI"/>
              </a:rPr>
              <a:t>Adapter architecture; reports “unavailable”, never a fabricated match — cached URLhaus snapshot for demo</a:t>
            </a:r>
          </a:p>
        </p:txBody>
      </p:sp>
      <p:sp>
        <p:nvSpPr>
          <p:cNvPr id="40" name="Oval 39"/>
          <p:cNvSpPr/>
          <p:nvPr/>
        </p:nvSpPr>
        <p:spPr>
          <a:xfrm>
            <a:off x="384048" y="309067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3035808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F172A"/>
                </a:solidFill>
                <a:latin typeface="Segoe UI"/>
              </a:rPr>
              <a:t>ML false positives / negatives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630168" y="3115909"/>
            <a:ext cx="146304" cy="114117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77056" y="3090672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8224" y="3035808"/>
            <a:ext cx="76745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5647E"/>
                </a:solidFill>
                <a:latin typeface="Segoe UI"/>
              </a:rPr>
              <a:t>Cross-validated model selection, tuned decision threshold, held-out evaluation</a:t>
            </a:r>
          </a:p>
        </p:txBody>
      </p:sp>
      <p:sp>
        <p:nvSpPr>
          <p:cNvPr id="45" name="Oval 44"/>
          <p:cNvSpPr/>
          <p:nvPr/>
        </p:nvSpPr>
        <p:spPr>
          <a:xfrm>
            <a:off x="384048" y="3392424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" y="3337560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F172A"/>
                </a:solidFill>
                <a:latin typeface="Segoe UI"/>
              </a:rPr>
              <a:t>Unseen attack patterns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30168" y="3417661"/>
            <a:ext cx="146304" cy="114117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877056" y="3392424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78224" y="3337560"/>
            <a:ext cx="76745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5647E"/>
                </a:solidFill>
                <a:latin typeface="Segoe UI"/>
              </a:rPr>
              <a:t>Multi-signal fusion (headers + URL + ML + threat intel) + a documented feedback loop</a:t>
            </a:r>
          </a:p>
        </p:txBody>
      </p:sp>
      <p:sp>
        <p:nvSpPr>
          <p:cNvPr id="50" name="Oval 49"/>
          <p:cNvSpPr/>
          <p:nvPr/>
        </p:nvSpPr>
        <p:spPr>
          <a:xfrm>
            <a:off x="384048" y="3694176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" y="3639312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F172A"/>
                </a:solidFill>
                <a:latin typeface="Segoe UI"/>
              </a:rPr>
              <a:t>Computational requirements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3630168" y="3719413"/>
            <a:ext cx="146304" cy="114117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877056" y="3694176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78224" y="3639312"/>
            <a:ext cx="76745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5647E"/>
                </a:solidFill>
                <a:latin typeface="Segoe UI"/>
              </a:rPr>
              <a:t>ML inference isolated in its own service; investigation logic is portable/modular</a:t>
            </a:r>
          </a:p>
        </p:txBody>
      </p:sp>
      <p:sp>
        <p:nvSpPr>
          <p:cNvPr id="55" name="Oval 54"/>
          <p:cNvSpPr/>
          <p:nvPr/>
        </p:nvSpPr>
        <p:spPr>
          <a:xfrm>
            <a:off x="384048" y="3995928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" y="3941064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F172A"/>
                </a:solidFill>
                <a:latin typeface="Segoe UI"/>
              </a:rPr>
              <a:t>Platform security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3630168" y="4021165"/>
            <a:ext cx="146304" cy="114117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77056" y="3995928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78224" y="3941064"/>
            <a:ext cx="76745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5647E"/>
                </a:solidFill>
                <a:latin typeface="Segoe UI"/>
              </a:rPr>
              <a:t>Auth + row-level security · input validation · SSRF-safe URL fetches · no secrets in code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4048" y="4398264"/>
            <a:ext cx="64008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437083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WHY IT IS FEASIBLE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" y="4645151"/>
            <a:ext cx="3661562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B8E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4645151"/>
            <a:ext cx="237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" y="4645151"/>
            <a:ext cx="320436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5803D"/>
                </a:solidFill>
                <a:latin typeface="Segoe UI"/>
              </a:rPr>
              <a:t>Public research datasets already acquired &amp; profiled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65066" y="4645151"/>
            <a:ext cx="3661562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B8E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93082" y="4645151"/>
            <a:ext cx="237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94250" y="4645151"/>
            <a:ext cx="320436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5803D"/>
                </a:solidFill>
                <a:latin typeface="Segoe UI"/>
              </a:rPr>
              <a:t>PhishTank / URLhaus integrated via tested adapters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46084" y="4645151"/>
            <a:ext cx="3661562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B8E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4100" y="4645151"/>
            <a:ext cx="237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75268" y="4645151"/>
            <a:ext cx="320436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5803D"/>
                </a:solidFill>
                <a:latin typeface="Segoe UI"/>
              </a:rPr>
              <a:t>GeoLite2 IP→ASN→geo enrichment adapter, unit tested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4048" y="5157215"/>
            <a:ext cx="3661562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B8E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5157215"/>
            <a:ext cx="237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" y="5157215"/>
            <a:ext cx="320436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5803D"/>
                </a:solidFill>
                <a:latin typeface="Segoe UI"/>
              </a:rPr>
              <a:t>ML inference kept modular — portable pipeline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65066" y="5157215"/>
            <a:ext cx="3661562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B8E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93082" y="5157215"/>
            <a:ext cx="237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94250" y="5157215"/>
            <a:ext cx="320436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5803D"/>
                </a:solidFill>
                <a:latin typeface="Segoe UI"/>
              </a:rPr>
              <a:t>Supabase/PostgreSQL schema scales case &amp; evidence storage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46084" y="5157215"/>
            <a:ext cx="3661562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B8E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74100" y="5157215"/>
            <a:ext cx="2377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75268" y="5157215"/>
            <a:ext cx="320436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5803D"/>
                </a:solidFill>
                <a:latin typeface="Segoe UI"/>
              </a:rPr>
              <a:t>Live intel when credentialed; labelled demo data otherwise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Built and tested today — not merely proposed.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IMPACT &amp;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Who It Serves &amp; What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07208" y="1187196"/>
            <a:ext cx="2813151" cy="118110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" y="100431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004316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Government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379220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0" i="1">
                <a:solidFill>
                  <a:srgbClr val="55647E"/>
                </a:solidFill>
                <a:latin typeface="Segoe UI"/>
              </a:rPr>
              <a:t>Cyber-crime early-warning signal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07208" y="1659636"/>
            <a:ext cx="2813151" cy="70866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4048" y="147675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476756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Banks / Financial Institutions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1851660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0" i="1">
                <a:solidFill>
                  <a:srgbClr val="55647E"/>
                </a:solidFill>
                <a:latin typeface="Segoe UI"/>
              </a:rPr>
              <a:t>Structured phishing/BEC case evidence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07208" y="2132076"/>
            <a:ext cx="2813151" cy="23622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" y="194919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1949196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Enterprises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2324100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0" i="1">
                <a:solidFill>
                  <a:srgbClr val="55647E"/>
                </a:solidFill>
                <a:latin typeface="Segoe UI"/>
              </a:rPr>
              <a:t>Reduced manual triage effort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807208" y="2368296"/>
            <a:ext cx="2813151" cy="23622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4048" y="242163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421636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Educational Institutions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796540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0" i="1">
                <a:solidFill>
                  <a:srgbClr val="55647E"/>
                </a:solidFill>
                <a:latin typeface="Segoe UI"/>
              </a:rPr>
              <a:t>Safer institutional email channels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807208" y="2368296"/>
            <a:ext cx="2813151" cy="70866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84048" y="289407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894076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SOC / Security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3268980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0" i="1">
                <a:solidFill>
                  <a:srgbClr val="55647E"/>
                </a:solidFill>
                <a:latin typeface="Segoe UI"/>
              </a:rPr>
              <a:t>Faster triage &amp; evidence correlation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807208" y="2368296"/>
            <a:ext cx="2813151" cy="118110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4048" y="336651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366516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Digital Forensic Investigators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741420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0" i="1">
                <a:solidFill>
                  <a:srgbClr val="55647E"/>
                </a:solidFill>
                <a:latin typeface="Segoe UI"/>
              </a:rPr>
              <a:t>Structured, citable forensic evidence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571335" y="1187196"/>
            <a:ext cx="3270352" cy="118110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933127" y="104089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3127" y="1040892"/>
            <a:ext cx="18745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D4ED8"/>
                </a:solidFill>
                <a:latin typeface="Segoe UI"/>
              </a:rPr>
              <a:t>Detection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571335" y="1659636"/>
            <a:ext cx="3270352" cy="70866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33127" y="151333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3127" y="1513332"/>
            <a:ext cx="18745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D4ED8"/>
                </a:solidFill>
                <a:latin typeface="Segoe UI"/>
              </a:rPr>
              <a:t>Investigation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571335" y="2132076"/>
            <a:ext cx="3270352" cy="23622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933127" y="198577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33127" y="1985772"/>
            <a:ext cx="18745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D4ED8"/>
                </a:solidFill>
                <a:latin typeface="Segoe UI"/>
              </a:rPr>
              <a:t>Evidence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71335" y="2368296"/>
            <a:ext cx="3270352" cy="23622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33127" y="245821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3127" y="2458212"/>
            <a:ext cx="18745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D4ED8"/>
                </a:solidFill>
                <a:latin typeface="Segoe UI"/>
              </a:rPr>
              <a:t>Infrastructure Intelligence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71335" y="2368296"/>
            <a:ext cx="3270352" cy="70866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933127" y="293065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33127" y="2930652"/>
            <a:ext cx="18745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D4ED8"/>
                </a:solidFill>
                <a:latin typeface="Segoe UI"/>
              </a:rPr>
              <a:t>Faster Triage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71335" y="2368296"/>
            <a:ext cx="3270352" cy="1181100"/>
          </a:xfrm>
          <a:prstGeom prst="line">
            <a:avLst/>
          </a:prstGeom>
          <a:ln w="1143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933127" y="340309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3127" y="3403092"/>
            <a:ext cx="18745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D4ED8"/>
                </a:solidFill>
                <a:latin typeface="Segoe UI"/>
              </a:rPr>
              <a:t>Explainable Decisions</a:t>
            </a:r>
          </a:p>
        </p:txBody>
      </p:sp>
      <p:sp>
        <p:nvSpPr>
          <p:cNvPr id="56" name="Oval 55"/>
          <p:cNvSpPr/>
          <p:nvPr/>
        </p:nvSpPr>
        <p:spPr>
          <a:xfrm>
            <a:off x="5528919" y="1801367"/>
            <a:ext cx="1133856" cy="1133856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753496" y="1997415"/>
            <a:ext cx="684702" cy="684703"/>
          </a:xfrm>
          <a:custGeom>
            <a:avLst/>
            <a:gdLst/>
            <a:ahLst/>
            <a:cxnLst/>
            <a:rect l="l" t="t" r="r" b="b"/>
            <a:pathLst>
              <a:path w="684702" h="684703">
                <a:moveTo>
                  <a:pt x="0" y="68470"/>
                </a:moveTo>
                <a:lnTo>
                  <a:pt x="342351" y="0"/>
                </a:lnTo>
                <a:lnTo>
                  <a:pt x="684702" y="68470"/>
                </a:lnTo>
                <a:lnTo>
                  <a:pt x="684702" y="342351"/>
                </a:lnTo>
                <a:lnTo>
                  <a:pt x="342351" y="684703"/>
                </a:lnTo>
                <a:lnTo>
                  <a:pt x="0" y="34235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53496" y="2106967"/>
            <a:ext cx="684702" cy="6847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72887" y="2935224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60">
                <a:solidFill>
                  <a:srgbClr val="0A1B33"/>
                </a:solidFill>
                <a:latin typeface="Segoe UI"/>
              </a:rPr>
              <a:t>NETRAX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" y="804672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spc="80">
                <a:solidFill>
                  <a:srgbClr val="8592A8"/>
                </a:solidFill>
                <a:latin typeface="Segoe UI"/>
              </a:rPr>
              <a:t>WHO IT SERVES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3127" y="804672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spc="80">
                <a:solidFill>
                  <a:srgbClr val="8592A8"/>
                </a:solidFill>
                <a:latin typeface="Segoe UI"/>
              </a:rPr>
              <a:t>WHAT CHANGES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3803904"/>
            <a:ext cx="11423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 i="1">
                <a:solidFill>
                  <a:srgbClr val="8592A8"/>
                </a:solidFill>
                <a:latin typeface="Segoe UI"/>
              </a:rPr>
              <a:t>A decision-support &amp; forensic-intelligence platform — not a replacement for banks, police or official cybercrime systems.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4048" y="4123944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409651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BEFORE VS. AFTER NETRAX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438912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91B1B"/>
                </a:solidFill>
                <a:latin typeface="Segoe UI"/>
              </a:rPr>
              <a:t>BEFORE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18488" y="4389120"/>
            <a:ext cx="2423845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18488" y="4389120"/>
            <a:ext cx="242384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Suspicious Email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051477" y="4498207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206925" y="4389120"/>
            <a:ext cx="2423845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925" y="4389120"/>
            <a:ext cx="242384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Manual Investigation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6639915" y="4498207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795363" y="4389120"/>
            <a:ext cx="2423845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95363" y="4389120"/>
            <a:ext cx="242384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Scattered Evidence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9228353" y="4498207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383801" y="4389120"/>
            <a:ext cx="2423845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83801" y="4389120"/>
            <a:ext cx="242384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Slow Decision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4048" y="480974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F766E"/>
                </a:solidFill>
                <a:latin typeface="Segoe UI"/>
              </a:rPr>
              <a:t>AFTER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618488" y="4809744"/>
            <a:ext cx="1906158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18488" y="4809744"/>
            <a:ext cx="19061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Suspicious Email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3533790" y="4918831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689238" y="4809744"/>
            <a:ext cx="1906158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89238" y="4809744"/>
            <a:ext cx="19061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NetraX Investigation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5604540" y="4918831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759988" y="4809744"/>
            <a:ext cx="1906158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59988" y="4809744"/>
            <a:ext cx="19061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Correlated Evidence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7675290" y="4918831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830738" y="4809744"/>
            <a:ext cx="1906158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30738" y="4809744"/>
            <a:ext cx="19061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Forensic Risk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9746040" y="4918831"/>
            <a:ext cx="118872" cy="927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901488" y="4809744"/>
            <a:ext cx="1906158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01488" y="4809744"/>
            <a:ext cx="19061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Actionable Case Report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This solves a real triage and evidence problem.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Evidence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950976"/>
            <a:ext cx="3624986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950976"/>
            <a:ext cx="3624986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115568"/>
            <a:ext cx="32592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30">
                <a:solidFill>
                  <a:srgbClr val="0A1B33"/>
                </a:solidFill>
                <a:latin typeface="Segoe UI"/>
              </a:rPr>
              <a:t>DATA &amp; INTELLIGENCE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147218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426464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CMU Enron Email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600200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cs.cmu.edu/~enron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1874519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28800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Apache SpamAssassin Public 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002536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spamassassin.apache.org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227685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23113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UCI Phishing Websites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04872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archive.ics.uci.edu/dataset/327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" y="2679191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33472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PhishTank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807208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phishtank.org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" y="3081527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035808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URLhaus (abuse.ch)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209544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urlhaus.abuse.ch</a:t>
            </a:r>
          </a:p>
        </p:txBody>
      </p:sp>
      <p:sp>
        <p:nvSpPr>
          <p:cNvPr id="32" name="Oval 31"/>
          <p:cNvSpPr/>
          <p:nvPr/>
        </p:nvSpPr>
        <p:spPr>
          <a:xfrm>
            <a:off x="566928" y="3483863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438144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MaxMind GeoLite2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611879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dev.maxmind.com/geoip/geolite2-free-geolocation-data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83354" y="950976"/>
            <a:ext cx="3624986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83354" y="950976"/>
            <a:ext cx="3624986" cy="5486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6234" y="1115568"/>
            <a:ext cx="32592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30">
                <a:solidFill>
                  <a:srgbClr val="0A1B33"/>
                </a:solidFill>
                <a:latin typeface="Segoe UI"/>
              </a:rPr>
              <a:t>TECHNOLOGY</a:t>
            </a:r>
          </a:p>
        </p:txBody>
      </p:sp>
      <p:sp>
        <p:nvSpPr>
          <p:cNvPr id="38" name="Oval 37"/>
          <p:cNvSpPr/>
          <p:nvPr/>
        </p:nvSpPr>
        <p:spPr>
          <a:xfrm>
            <a:off x="4466234" y="1472184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0826" y="1426464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React + TypeScript + Vite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0826" y="1600200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react.dev</a:t>
            </a:r>
          </a:p>
        </p:txBody>
      </p:sp>
      <p:sp>
        <p:nvSpPr>
          <p:cNvPr id="41" name="Oval 40"/>
          <p:cNvSpPr/>
          <p:nvPr/>
        </p:nvSpPr>
        <p:spPr>
          <a:xfrm>
            <a:off x="4466234" y="187451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0826" y="1828800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Tailwind CSS + shadcn/ui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0826" y="2002536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tailwindcss.com</a:t>
            </a:r>
          </a:p>
        </p:txBody>
      </p:sp>
      <p:sp>
        <p:nvSpPr>
          <p:cNvPr id="44" name="Oval 43"/>
          <p:cNvSpPr/>
          <p:nvPr/>
        </p:nvSpPr>
        <p:spPr>
          <a:xfrm>
            <a:off x="4466234" y="227685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30826" y="223113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Supabase / PostgreSQL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30826" y="2404872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supabase.com/docs</a:t>
            </a:r>
          </a:p>
        </p:txBody>
      </p:sp>
      <p:sp>
        <p:nvSpPr>
          <p:cNvPr id="47" name="Oval 46"/>
          <p:cNvSpPr/>
          <p:nvPr/>
        </p:nvSpPr>
        <p:spPr>
          <a:xfrm>
            <a:off x="4466234" y="2679191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30826" y="2633472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Python + scikit-learn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0826" y="2807208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scikit-learn.org</a:t>
            </a:r>
          </a:p>
        </p:txBody>
      </p:sp>
      <p:sp>
        <p:nvSpPr>
          <p:cNvPr id="50" name="Oval 49"/>
          <p:cNvSpPr/>
          <p:nvPr/>
        </p:nvSpPr>
        <p:spPr>
          <a:xfrm>
            <a:off x="4466234" y="3081527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0826" y="3035808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Gemini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0826" y="3209544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ai.google.dev/gemini-api/docs</a:t>
            </a:r>
          </a:p>
        </p:txBody>
      </p:sp>
      <p:sp>
        <p:nvSpPr>
          <p:cNvPr id="53" name="Oval 52"/>
          <p:cNvSpPr/>
          <p:nvPr/>
        </p:nvSpPr>
        <p:spPr>
          <a:xfrm>
            <a:off x="4466234" y="3483863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30826" y="3438144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(explanation layer — planned, not yet wired)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82660" y="950976"/>
            <a:ext cx="3624986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82660" y="950976"/>
            <a:ext cx="3624986" cy="5486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5540" y="1115568"/>
            <a:ext cx="32592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30">
                <a:solidFill>
                  <a:srgbClr val="0A1B33"/>
                </a:solidFill>
                <a:latin typeface="Segoe UI"/>
              </a:rPr>
              <a:t>SECURITY &amp; STANDARDS</a:t>
            </a:r>
          </a:p>
        </p:txBody>
      </p:sp>
      <p:sp>
        <p:nvSpPr>
          <p:cNvPr id="58" name="Oval 57"/>
          <p:cNvSpPr/>
          <p:nvPr/>
        </p:nvSpPr>
        <p:spPr>
          <a:xfrm>
            <a:off x="8365540" y="1472184"/>
            <a:ext cx="82296" cy="822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30132" y="1426464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OWASP Top 10 / SSRF Prevention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30132" y="1600200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owasp.org</a:t>
            </a:r>
          </a:p>
        </p:txBody>
      </p:sp>
      <p:sp>
        <p:nvSpPr>
          <p:cNvPr id="61" name="Oval 60"/>
          <p:cNvSpPr/>
          <p:nvPr/>
        </p:nvSpPr>
        <p:spPr>
          <a:xfrm>
            <a:off x="8365540" y="1874519"/>
            <a:ext cx="82296" cy="822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30132" y="1828800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NIST Cybersecurity Framework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30132" y="2002536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nist.gov/cyberframework</a:t>
            </a:r>
          </a:p>
        </p:txBody>
      </p:sp>
      <p:sp>
        <p:nvSpPr>
          <p:cNvPr id="64" name="Oval 63"/>
          <p:cNvSpPr/>
          <p:nvPr/>
        </p:nvSpPr>
        <p:spPr>
          <a:xfrm>
            <a:off x="8365540" y="2276856"/>
            <a:ext cx="82296" cy="822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30132" y="223113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CERT-In Advisories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30132" y="2404872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cert-in.org.in</a:t>
            </a:r>
          </a:p>
        </p:txBody>
      </p:sp>
      <p:sp>
        <p:nvSpPr>
          <p:cNvPr id="67" name="Oval 66"/>
          <p:cNvSpPr/>
          <p:nvPr/>
        </p:nvSpPr>
        <p:spPr>
          <a:xfrm>
            <a:off x="8365540" y="2679191"/>
            <a:ext cx="82296" cy="822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30132" y="2633472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F172A"/>
                </a:solidFill>
                <a:latin typeface="Segoe UI"/>
              </a:rPr>
              <a:t>Govt. of India Cybercrime Portal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30132" y="2807208"/>
            <a:ext cx="309463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5647E"/>
                </a:solidFill>
                <a:latin typeface="Segoe UI"/>
              </a:rPr>
              <a:t>cybercrime.gov.in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4048" y="4425696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439826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RESEARCH BASIS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48" y="4690872"/>
            <a:ext cx="2889503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4690872"/>
            <a:ext cx="288950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Email / Phishing Detection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01568" y="4690872"/>
            <a:ext cx="248716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01568" y="4690872"/>
            <a:ext cx="24871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URL Phishing Detection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16752" y="4690872"/>
            <a:ext cx="4197096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16752" y="4690872"/>
            <a:ext cx="4197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Email Header Forensics (SPF/DKIM/DMARC)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4048" y="5020056"/>
            <a:ext cx="3392424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" y="5020056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Threat-Intelligence Correlation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904488" y="5020056"/>
            <a:ext cx="3191256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04488" y="5020056"/>
            <a:ext cx="31912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Agentic / Tool-Use AI Systems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223760" y="5020056"/>
            <a:ext cx="2889503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23760" y="5020056"/>
            <a:ext cx="288950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IP Geolocation Limitations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4048" y="5349240"/>
            <a:ext cx="3090672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3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4048" y="5349240"/>
            <a:ext cx="3090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92400E"/>
                </a:solidFill>
                <a:latin typeface="Segoe UI"/>
              </a:rPr>
              <a:t>Explainable Security Systems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5715000"/>
            <a:ext cx="114235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1">
                <a:solidFill>
                  <a:srgbClr val="8592A8"/>
                </a:solidFill>
                <a:latin typeface="Segoe UI"/>
              </a:rPr>
              <a:t>Topic areas grounding this build — specific citations to be finalized for the final report.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Grounded in real, verifiable datasets, tools and standards.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