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201168"/>
            <a:ext cx="10515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4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051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 u="none">
                <a:solidFill>
                  <a:srgbClr val="1A1A1A"/>
                </a:solidFill>
                <a:latin typeface="Calibri"/>
              </a:rPr>
              <a:t>Nexora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01168"/>
            <a:ext cx="8229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 u="none">
                <a:solidFill>
                  <a:srgbClr val="0D0D0D"/>
                </a:solidFill>
                <a:latin typeface="Times New Roman"/>
              </a:rPr>
              <a:t>NETRAX</a:t>
            </a:r>
          </a:p>
        </p:txBody>
      </p:sp>
      <p:sp>
        <p:nvSpPr>
          <p:cNvPr id="6" name="Hexagon 5"/>
          <p:cNvSpPr/>
          <p:nvPr/>
        </p:nvSpPr>
        <p:spPr>
          <a:xfrm>
            <a:off x="9966960" y="182880"/>
            <a:ext cx="566928" cy="566928"/>
          </a:xfrm>
          <a:prstGeom prst="hexag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1828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u="none">
                <a:solidFill>
                  <a:srgbClr val="FFFFFF"/>
                </a:solidFill>
                <a:latin typeface="Calibri"/>
              </a:rPr>
              <a:t>SIH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25328" y="155448"/>
            <a:ext cx="1920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 u="none">
                <a:solidFill>
                  <a:srgbClr val="1F3864"/>
                </a:solidFill>
                <a:latin typeface="Calibri"/>
              </a:rPr>
              <a:t>SMART INDIA
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25328" y="475488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u="none">
                <a:solidFill>
                  <a:srgbClr val="1F4E9C"/>
                </a:solidFill>
                <a:latin typeface="Calibri"/>
              </a:rP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u="none">
                <a:solidFill>
                  <a:srgbClr val="1F4E9C"/>
                </a:solidFill>
                <a:latin typeface="Calibri"/>
              </a:rPr>
              <a:t>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234440"/>
            <a:ext cx="10881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u="sng">
                <a:solidFill>
                  <a:srgbClr val="1F4E9C"/>
                </a:solidFill>
                <a:latin typeface="Times New Roman"/>
              </a:rPr>
              <a:t>Proposed Solution (Email Threat Detection, Investigation &amp; Forensic Intelligence)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1155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 </a:t>
            </a:r>
            <a:r>
              <a:rPr sz="1500">
                <a:solidFill>
                  <a:srgbClr val="1A1A1A"/>
                </a:solidFill>
                <a:latin typeface="Calibri"/>
              </a:rPr>
              <a:t>Detailed explanation: NetraX takes a suspicious email and runs it through header forensics, URL/domain analysis, threat-intelligence correlation (PhishTank, URLhaus), and IP/ASN geolocation — then fuses that evidence into one explainable, deterministic risk score with a recommended action.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 </a:t>
            </a:r>
            <a:r>
              <a:rPr sz="1500">
                <a:solidFill>
                  <a:srgbClr val="1A1A1A"/>
                </a:solidFill>
                <a:latin typeface="Calibri"/>
              </a:rPr>
              <a:t>How it addresses the problem: traditional filters stop at “suspicious / not suspicious.” SOC teams and investigators are then left to manually piece together evidence across headers, links and infrastructure. NetraX automates that investigation and hands back cited evidence, not just a verdict.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 </a:t>
            </a:r>
            <a:r>
              <a:rPr sz="1500">
                <a:solidFill>
                  <a:srgbClr val="1A1A1A"/>
                </a:solidFill>
                <a:latin typeface="Calibri"/>
              </a:rPr>
              <a:t>Innovation and uniqueness: an agentic orchestrator dynamically selects only the tools an email's own indicators call for — no URL means URL/threat-intel tools are skipped entirely, no public source IP means geolocation is skipped entirely — with every skip logged as an auditable event, never a silent no-op.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54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6473952"/>
            <a:ext cx="117344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 u="none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8735" y="6473952"/>
            <a:ext cx="640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